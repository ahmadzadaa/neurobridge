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72A"/>
                </a:solidFill>
                <a:latin typeface="Calibri"/>
              </a:defRPr>
            </a:pPr>
            <a:r>
              <a:rPr sz="1300" b="0" i="0" u="none" strike="noStrike">
                <a:solidFill>
                  <a:srgbClr val="0F172A"/>
                </a:solidFill>
                <a:latin typeface="Calibri"/>
              </a:rPr>
              <a:t>ARR ($M)</a:t>
            </a:r>
          </a:p>
        </c:rich>
      </c:tx>
      <c:layout/>
      <c:overlay val="0"/>
    </c:title>
    <c:autoTitleDeleted val="0"/>
    <c:plotArea>
      <c:layout/>
      <c:barChart>
        <c:barDir val="col"/>
        <c:grouping val="clustered"/>
        <c:varyColors val="0"/>
        <c:ser>
          <c:idx val="0"/>
          <c:order val="0"/>
          <c:tx>
            <c:strRef>
              <c:f>Sheet1!$B$1</c:f>
              <c:strCache>
                <c:ptCount val="1"/>
                <c:pt idx="0">
                  <c:v>ARR</c:v>
                </c:pt>
              </c:strCache>
            </c:strRef>
          </c:tx>
          <c:spPr>
            <a:solidFill>
              <a:srgbClr val="0E7490"/>
            </a:solidFill>
            <a:effectLst/>
          </c:spPr>
          <c:invertIfNegative val="0"/>
          <c:dLbls>
            <c:numFmt formatCode="$0.00&quot;M&quot;" sourceLinked="0"/>
            <c:txPr>
              <a:bodyPr/>
              <a:lstStyle/>
              <a:p>
                <a:pPr>
                  <a:defRPr b="0" i="0" strike="noStrike" sz="1000" u="none">
                    <a:solidFill>
                      <a:srgbClr val="1E293B"/>
                    </a:solidFill>
                    <a:latin typeface="Calibri"/>
                  </a:defRPr>
                </a:pPr>
              </a:p>
            </c:txPr>
            <c:showLegendKey val="0"/>
            <c:showVal val="1"/>
            <c:showCatName val="0"/>
            <c:showSerName val="0"/>
            <c:showPercent val="0"/>
            <c:showBubbleSize val="0"/>
            <c:showLeaderLines val="0"/>
          </c:dLbls>
          <c:dPt>
            <c:idx val="0"/>
            <c:invertIfNegative val="0"/>
            <c:bubble3D val="0"/>
            <c:spPr>
              <a:solidFill>
                <a:srgbClr val="0E7490"/>
              </a:solidFill>
              <a:effectLst/>
            </c:spPr>
          </c:dPt>
          <c:dPt>
            <c:idx val="1"/>
            <c:invertIfNegative val="0"/>
            <c:bubble3D val="0"/>
            <c:spPr>
              <a:solidFill>
                <a:srgbClr val="0E7490"/>
              </a:solidFill>
              <a:effectLst/>
            </c:spPr>
          </c:dPt>
          <c:dPt>
            <c:idx val="2"/>
            <c:invertIfNegative val="0"/>
            <c:bubble3D val="0"/>
            <c:spPr>
              <a:solidFill>
                <a:srgbClr val="0F172A"/>
              </a:solidFill>
              <a:effectLst/>
            </c:spPr>
          </c:dPt>
          <c:dPt>
            <c:idx val="3"/>
            <c:invertIfNegative val="0"/>
            <c:bubble3D val="0"/>
            <c:spPr>
              <a:solidFill>
                <a:srgbClr val="0F172A"/>
              </a:solidFill>
              <a:effectLst/>
            </c:spPr>
          </c:dPt>
          <c:dPt>
            <c:idx val="4"/>
            <c:invertIfNegative val="0"/>
            <c:bubble3D val="0"/>
            <c:spPr>
              <a:solidFill>
                <a:srgbClr val="F59E0B"/>
              </a:solidFill>
              <a:effectLst/>
            </c:spPr>
          </c:dPt>
          <c:cat>
            <c:multiLvlStrRef>
              <c:f>Sheet1!$A$2:$A$6</c:f>
              <c:multiLvlStrCache>
                <c:ptCount val="5"/>
                <c:lvl>
                  <c:pt idx="0">
                    <c:v>2026</c:v>
                  </c:pt>
                  <c:pt idx="1">
                    <c:v>2027</c:v>
                  </c:pt>
                  <c:pt idx="2">
                    <c:v>2028</c:v>
                  </c:pt>
                  <c:pt idx="3">
                    <c:v>2029</c:v>
                  </c:pt>
                  <c:pt idx="4">
                    <c:v>2030</c:v>
                  </c:pt>
                </c:lvl>
              </c:multiLvlStrCache>
            </c:multiLvlStrRef>
          </c:cat>
          <c:val>
            <c:numRef>
              <c:f>Sheet1!$B$2:$B$6</c:f>
              <c:numCache>
                <c:formatCode>General</c:formatCode>
                <c:ptCount val="5"/>
                <c:pt idx="0">
                  <c:v>0.049</c:v>
                </c:pt>
                <c:pt idx="1">
                  <c:v>0.327</c:v>
                </c:pt>
                <c:pt idx="2">
                  <c:v>1.1</c:v>
                </c:pt>
                <c:pt idx="3">
                  <c:v>2.69</c:v>
                </c:pt>
                <c:pt idx="4">
                  <c:v>5.28</c:v>
                </c:pt>
              </c:numCache>
            </c:numRef>
          </c:val>
        </c:ser>
        <c:dLbls>
          <c:numFmt formatCode="$0.00&quot;M&quot;" sourceLinked="0"/>
          <c:txPr>
            <a:bodyPr/>
            <a:lstStyle/>
            <a:p>
              <a:pPr>
                <a:defRPr b="0" i="0" strike="noStrike" sz="1000" u="none">
                  <a:solidFill>
                    <a:srgbClr val="1E293B"/>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Calibri"/>
              </a:defRPr>
            </a:pPr>
            <a:endParaRPr lang="en-US"/>
          </a:p>
        </c:txPr>
        <c:crossAx val="2094734552"/>
        <c:crosses val="autoZero"/>
        <c:auto val="1"/>
        <c:lblAlgn val="ctr"/>
        <c:noMultiLvlLbl val="1"/>
      </c:catAx>
      <c:valAx>
        <c:axId val="2094734552"/>
        <c:scaling>
          <c:orientation val="minMax"/>
          <c:max val="6"/>
        </c:scaling>
        <c:delete val="0"/>
        <c:axPos val="l"/>
        <c:majorGridlines>
          <c:spPr>
            <a:ln w="9525"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FFFFFF"/>
                </a:solidFill>
                <a:latin typeface="Calibri"/>
              </a:defRPr>
            </a:pPr>
            <a:r>
              <a:rPr sz="1300" b="0" i="0" u="none" strike="noStrike">
                <a:solidFill>
                  <a:srgbClr val="FFFFFF"/>
                </a:solidFill>
                <a:latin typeface="Calibri"/>
              </a:rPr>
              <a:t>Use of funds ($K)</a:t>
            </a:r>
          </a:p>
        </c:rich>
      </c:tx>
      <c:layout/>
      <c:overlay val="0"/>
    </c:title>
    <c:autoTitleDeleted val="0"/>
    <c:plotArea>
      <c:layout/>
      <c:barChart>
        <c:barDir val="bar"/>
        <c:grouping val="clustered"/>
        <c:varyColors val="0"/>
        <c:ser>
          <c:idx val="0"/>
          <c:order val="0"/>
          <c:tx>
            <c:strRef>
              <c:f>Sheet1!$B$1</c:f>
              <c:strCache>
                <c:ptCount val="1"/>
                <c:pt idx="0">
                  <c:v>Use of funds</c:v>
                </c:pt>
              </c:strCache>
            </c:strRef>
          </c:tx>
          <c:spPr>
            <a:solidFill>
              <a:srgbClr val="F59E0B"/>
            </a:solidFill>
            <a:effectLst/>
          </c:spPr>
          <c:invertIfNegative val="0"/>
          <c:dLbls>
            <c:numFmt formatCode="$0&quot;K&quot;" sourceLinked="0"/>
            <c:txPr>
              <a:bodyPr/>
              <a:lstStyle/>
              <a:p>
                <a:pPr>
                  <a:defRPr b="0" i="0" strike="noStrike" sz="1000" u="none">
                    <a:solidFill>
                      <a:srgbClr val="FFFFFF"/>
                    </a:solidFill>
                    <a:latin typeface="Calibri"/>
                  </a:defRPr>
                </a:pPr>
              </a:p>
            </c:txPr>
            <c:showLegendKey val="0"/>
            <c:showVal val="1"/>
            <c:showCatName val="0"/>
            <c:showSerName val="0"/>
            <c:showPercent val="0"/>
            <c:showBubbleSize val="0"/>
            <c:showLeaderLines val="0"/>
          </c:dLbls>
          <c:dPt>
            <c:idx val="0"/>
            <c:invertIfNegative val="0"/>
            <c:bubble3D val="0"/>
            <c:spPr>
              <a:solidFill>
                <a:srgbClr val="F59E0B"/>
              </a:solidFill>
              <a:effectLst/>
            </c:spPr>
          </c:dPt>
          <c:dPt>
            <c:idx val="1"/>
            <c:invertIfNegative val="0"/>
            <c:bubble3D val="0"/>
            <c:spPr>
              <a:solidFill>
                <a:srgbClr val="0E7490"/>
              </a:solidFill>
              <a:effectLst/>
            </c:spPr>
          </c:dPt>
          <c:dPt>
            <c:idx val="2"/>
            <c:invertIfNegative val="0"/>
            <c:bubble3D val="0"/>
            <c:spPr>
              <a:solidFill>
                <a:srgbClr val="0E7490"/>
              </a:solidFill>
              <a:effectLst/>
            </c:spPr>
          </c:dPt>
          <c:dPt>
            <c:idx val="3"/>
            <c:invertIfNegative val="0"/>
            <c:bubble3D val="0"/>
            <c:spPr>
              <a:solidFill>
                <a:srgbClr val="475569"/>
              </a:solidFill>
              <a:effectLst/>
            </c:spPr>
          </c:dPt>
          <c:dPt>
            <c:idx val="4"/>
            <c:invertIfNegative val="0"/>
            <c:bubble3D val="0"/>
            <c:spPr>
              <a:solidFill>
                <a:srgbClr val="475569"/>
              </a:solidFill>
              <a:effectLst/>
            </c:spPr>
          </c:dPt>
          <c:cat>
            <c:multiLvlStrRef>
              <c:f>Sheet1!$A$2:$A$6</c:f>
              <c:multiLvlStrCache>
                <c:ptCount val="5"/>
                <c:lvl>
                  <c:pt idx="0">
                    <c:v>Engineering &amp; product</c:v>
                  </c:pt>
                  <c:pt idx="1">
                    <c:v>Sales &amp; partnerships</c:v>
                  </c:pt>
                  <c:pt idx="2">
                    <c:v>Marketing &amp; program ops</c:v>
                  </c:pt>
                  <c:pt idx="3">
                    <c:v>Infrastructure &amp; compliance</c:v>
                  </c:pt>
                  <c:pt idx="4">
                    <c:v>G&amp;A &amp; buffer</c:v>
                  </c:pt>
                </c:lvl>
              </c:multiLvlStrCache>
            </c:multiLvlStrRef>
          </c:cat>
          <c:val>
            <c:numRef>
              <c:f>Sheet1!$B$2:$B$6</c:f>
              <c:numCache>
                <c:formatCode>General</c:formatCode>
                <c:ptCount val="5"/>
                <c:pt idx="0">
                  <c:v>337</c:v>
                </c:pt>
                <c:pt idx="1">
                  <c:v>180</c:v>
                </c:pt>
                <c:pt idx="2">
                  <c:v>90</c:v>
                </c:pt>
                <c:pt idx="3">
                  <c:v>68</c:v>
                </c:pt>
                <c:pt idx="4">
                  <c:v>75</c:v>
                </c:pt>
              </c:numCache>
            </c:numRef>
          </c:val>
        </c:ser>
        <c:dLbls>
          <c:numFmt formatCode="$0&quot;K&quot;" sourceLinked="0"/>
          <c:txPr>
            <a:bodyPr/>
            <a:lstStyle/>
            <a:p>
              <a:pPr>
                <a:defRPr b="0" i="0" strike="noStrike" sz="1000" u="none">
                  <a:solidFill>
                    <a:srgbClr val="FFFFF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CBD5E1"/>
                </a:solidFill>
                <a:latin typeface="Calibri"/>
              </a:defRPr>
            </a:pPr>
            <a:endParaRPr lang="en-US"/>
          </a:p>
        </c:txPr>
        <c:crossAx val="2094734552"/>
        <c:crosses val="autoZero"/>
        <c:auto val="1"/>
        <c:lblAlgn val="ctr"/>
        <c:noMultiLvlLbl val="1"/>
      </c:catAx>
      <c:valAx>
        <c:axId val="2094734552"/>
        <c:scaling>
          <c:orientation val="minMax"/>
          <c:max val="4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today an institution that wants to run an entrepreneurship program buys three or four disconnected tools and still judges its hackathon on a spreadsheet. We replaced all of it with one platform. We are raising 750 thousand dollars to turn a finished product into a sold product. Hold on this slide until the room is settled — don't rush into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the four rows — pick the one that matches the investor in front of you. The line that lands is the box on the right: judging is the sharp pain. It is subjective, unrecorded and indefensible, and it is the moment an institution's credibility is on the line in public. That is why we lead with it as the wedge. Note the price point: judging alone is sold as its own product category at three to six and a half thousand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once, fast. The point is not the five features — every one of them exists somewhere on the market. The point is that they write to one record. A sim vendor exports to the LMS over LTI and loses the thread; a judging tool starts at submission and never knew the learner. We own both ends. Then land the bottom bar: multi-tenancy enforced in code is what lets us sell the same product to a university and a ministry.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the right column is not built yet. Investors find the gaps anyway; naming them first buys you credibility for everything on the left. The left column is demonstrable in a browser right now — offer the live demo. The number strip at the bottom is the engineering proof: Next.js 16, Prisma, 126 tests at roughly 90 percent core coverage, Docker and Terraform written. This is not a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SOM, not the TAM — the credible claim is two point two percent of our serviceable market, not a slice of a billion. If they push on the TAM build, the chain is: 264 million tertiary students from UNESCO, roughly a fifth in business and entrepreneurship-adjacent programs, times twenty-five dollars a seat. Then move fast to the beachhead: 372 institutions in Turkey and Azerbaijan is four and a half million dollars of ACV we can reach by car. And the EIT is putting seventy million euros into exactly this buyer over the next two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pricing change is the argument here, so say it out loud: we are currently underpriced. Twenty-two to twenty-nine dollars a seat is less than institutions already pay for one simulation licence. Adding a platform fee gives us a revenue floor and makes a forty-seat pilot worth selling. On the table — do not hide that 2027 CAC is nine thousand dollars and payback is nearly fourteen months. That is the cost of founder-led learning in a govtech sales cycle. The story is the trend line, and the trend is partner-led distribution from 2028.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oversell uniqueness — a sharp investor will name a competitor within thirty seconds and you want to have named it first. So deliver the table plainly, then give them the counter-argument yourself: yes, every single module is commoditised. Judging is free at ScoreJudge. Moodle is free. That is exactly why the moat has to be the integration and the participant record, and why it compounds with customers rather than with engineering. Investors reward founders who can argue against their own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uncomfortable thing first: we have no revenue. What we have is a finished product and a costed path to revenue. Then the chart — note 2026 is a stub quarter from close, and the shape is a normal seed curve, not a hockey stick we cannot defend. The line that matters most is at the bottom: cumulative burn through 2027 is six hundred and two thousand, which sits inside this raise, and the 2028 plan can be throttled to breakeven if the A round is not there. Given EdTech venture funding hit a decade low in 2024, being throttleable is a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bracketed placeholders before you ever send this deck. Two things to land: first, the product was built by this team, not outsourced — that is why the CTO line carries the architecture numbers. Second, the advisors are buyer-side. A technopark general manager and a university centre director are not decoration; they are proof we can get into the room and evidence that we understand how this budget actually gets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specifics, not on vision. Seven hundred and fifty thousand, twenty-four months, and here are the five things it buys. The most persuasive item is the third one: we are not asking them to believe a market, we are asking them to fund the proof of a unit economic we have already modelled conservatively. Then stop talking and offer the demo — the product is real and clicking through the hackathon jury flow closes more rounds than any slide here. Fill in your real contact details before sending.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0E7490"/>
          </a:solidFill>
          <a:ln/>
        </p:spPr>
      </p:sp>
      <p:sp>
        <p:nvSpPr>
          <p:cNvPr id="3" name="Shape 1"/>
          <p:cNvSpPr/>
          <p:nvPr/>
        </p:nvSpPr>
        <p:spPr>
          <a:xfrm>
            <a:off x="10607040" y="4023360"/>
            <a:ext cx="3108960" cy="3108960"/>
          </a:xfrm>
          <a:prstGeom prst="ellipse">
            <a:avLst/>
          </a:prstGeom>
          <a:solidFill>
            <a:srgbClr val="F59E0B"/>
          </a:solidFill>
          <a:ln/>
        </p:spPr>
      </p:sp>
      <p:sp>
        <p:nvSpPr>
          <p:cNvPr id="4" name="Text 2"/>
          <p:cNvSpPr/>
          <p:nvPr/>
        </p:nvSpPr>
        <p:spPr>
          <a:xfrm>
            <a:off x="566928" y="1417320"/>
            <a:ext cx="8229600" cy="1005840"/>
          </a:xfrm>
          <a:prstGeom prst="rect">
            <a:avLst/>
          </a:prstGeom>
          <a:noFill/>
          <a:ln/>
        </p:spPr>
        <p:txBody>
          <a:bodyPr wrap="square" lIns="0" tIns="0" rIns="0" bIns="0" rtlCol="0" anchor="ctr"/>
          <a:lstStyle/>
          <a:p>
            <a:pPr indent="0" marL="0">
              <a:buNone/>
            </a:pPr>
            <a:r>
              <a:rPr lang="en-US" sz="6000" b="1" spc="-100" kern="0" dirty="0">
                <a:solidFill>
                  <a:srgbClr val="FFFFFF"/>
                </a:solidFill>
                <a:latin typeface="Cambria" pitchFamily="34" charset="0"/>
                <a:ea typeface="Cambria" pitchFamily="34" charset="-122"/>
                <a:cs typeface="Cambria" pitchFamily="34" charset="-120"/>
              </a:rPr>
              <a:t>BizSim</a:t>
            </a:r>
            <a:endParaRPr lang="en-US" sz="6000" dirty="0"/>
          </a:p>
        </p:txBody>
      </p:sp>
      <p:sp>
        <p:nvSpPr>
          <p:cNvPr id="5" name="Text 3"/>
          <p:cNvSpPr/>
          <p:nvPr/>
        </p:nvSpPr>
        <p:spPr>
          <a:xfrm>
            <a:off x="566928" y="2487168"/>
            <a:ext cx="7863840" cy="548640"/>
          </a:xfrm>
          <a:prstGeom prst="rect">
            <a:avLst/>
          </a:prstGeom>
          <a:noFill/>
          <a:ln/>
        </p:spPr>
        <p:txBody>
          <a:bodyPr wrap="square" lIns="0" tIns="0" rIns="0" bIns="0" rtlCol="0" anchor="ctr"/>
          <a:lstStyle/>
          <a:p>
            <a:pPr indent="0" marL="0">
              <a:buNone/>
            </a:pPr>
            <a:r>
              <a:rPr lang="en-US" sz="2100" dirty="0">
                <a:solidFill>
                  <a:srgbClr val="CBD5E1"/>
                </a:solidFill>
                <a:latin typeface="Calibri" pitchFamily="34" charset="0"/>
                <a:ea typeface="Calibri" pitchFamily="34" charset="-122"/>
                <a:cs typeface="Calibri" pitchFamily="34" charset="-120"/>
              </a:rPr>
              <a:t>Run an entire entrepreneurship program in one platform.</a:t>
            </a:r>
            <a:endParaRPr lang="en-US" sz="2100" dirty="0"/>
          </a:p>
        </p:txBody>
      </p:sp>
      <p:sp>
        <p:nvSpPr>
          <p:cNvPr id="6" name="Text 4"/>
          <p:cNvSpPr/>
          <p:nvPr/>
        </p:nvSpPr>
        <p:spPr>
          <a:xfrm>
            <a:off x="566928" y="3054096"/>
            <a:ext cx="7680960" cy="548640"/>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Training → exams → simulation → hackathon judging → certification. White-label, multi-tenant, per-seat.</a:t>
            </a:r>
            <a:endParaRPr lang="en-US" sz="1350" dirty="0"/>
          </a:p>
        </p:txBody>
      </p:sp>
      <p:sp>
        <p:nvSpPr>
          <p:cNvPr id="7" name="Text 5"/>
          <p:cNvSpPr/>
          <p:nvPr/>
        </p:nvSpPr>
        <p:spPr>
          <a:xfrm>
            <a:off x="566928" y="4160520"/>
            <a:ext cx="2286000" cy="475488"/>
          </a:xfrm>
          <a:prstGeom prst="rect">
            <a:avLst/>
          </a:prstGeom>
          <a:noFill/>
          <a:ln/>
        </p:spPr>
        <p:txBody>
          <a:bodyPr wrap="square" lIns="0" tIns="0" rIns="0" bIns="0" rtlCol="0" anchor="ctr"/>
          <a:lstStyle/>
          <a:p>
            <a:pPr indent="0" marL="0">
              <a:buNone/>
            </a:pPr>
            <a:r>
              <a:rPr lang="en-US" sz="2800" b="1" dirty="0">
                <a:solidFill>
                  <a:srgbClr val="F59E0B"/>
                </a:solidFill>
                <a:latin typeface="Cambria" pitchFamily="34" charset="0"/>
                <a:ea typeface="Cambria" pitchFamily="34" charset="-122"/>
                <a:cs typeface="Cambria" pitchFamily="34" charset="-120"/>
              </a:rPr>
              <a:t>$1.4B</a:t>
            </a:r>
            <a:endParaRPr lang="en-US" sz="2800" dirty="0"/>
          </a:p>
        </p:txBody>
      </p:sp>
      <p:sp>
        <p:nvSpPr>
          <p:cNvPr id="8" name="Text 6"/>
          <p:cNvSpPr/>
          <p:nvPr/>
        </p:nvSpPr>
        <p:spPr>
          <a:xfrm>
            <a:off x="566928" y="4636008"/>
            <a:ext cx="2286000" cy="310896"/>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Global seat TAM</a:t>
            </a:r>
            <a:endParaRPr lang="en-US" sz="1100" dirty="0"/>
          </a:p>
        </p:txBody>
      </p:sp>
      <p:sp>
        <p:nvSpPr>
          <p:cNvPr id="9" name="Text 7"/>
          <p:cNvSpPr/>
          <p:nvPr/>
        </p:nvSpPr>
        <p:spPr>
          <a:xfrm>
            <a:off x="3081528" y="4160520"/>
            <a:ext cx="2286000" cy="475488"/>
          </a:xfrm>
          <a:prstGeom prst="rect">
            <a:avLst/>
          </a:prstGeom>
          <a:noFill/>
          <a:ln/>
        </p:spPr>
        <p:txBody>
          <a:bodyPr wrap="square" lIns="0" tIns="0" rIns="0" bIns="0" rtlCol="0" anchor="ctr"/>
          <a:lstStyle/>
          <a:p>
            <a:pPr indent="0" marL="0">
              <a:buNone/>
            </a:pPr>
            <a:r>
              <a:rPr lang="en-US" sz="2800" b="1" dirty="0">
                <a:solidFill>
                  <a:srgbClr val="F59E0B"/>
                </a:solidFill>
                <a:latin typeface="Cambria" pitchFamily="34" charset="0"/>
                <a:ea typeface="Cambria" pitchFamily="34" charset="-122"/>
                <a:cs typeface="Cambria" pitchFamily="34" charset="-120"/>
              </a:rPr>
              <a:t>113</a:t>
            </a:r>
            <a:endParaRPr lang="en-US" sz="2800" dirty="0"/>
          </a:p>
        </p:txBody>
      </p:sp>
      <p:sp>
        <p:nvSpPr>
          <p:cNvPr id="10" name="Text 8"/>
          <p:cNvSpPr/>
          <p:nvPr/>
        </p:nvSpPr>
        <p:spPr>
          <a:xfrm>
            <a:off x="3081528" y="4636008"/>
            <a:ext cx="2286000" cy="310896"/>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Turkish technoparks</a:t>
            </a:r>
            <a:endParaRPr lang="en-US" sz="1100" dirty="0"/>
          </a:p>
        </p:txBody>
      </p:sp>
      <p:sp>
        <p:nvSpPr>
          <p:cNvPr id="11" name="Text 9"/>
          <p:cNvSpPr/>
          <p:nvPr/>
        </p:nvSpPr>
        <p:spPr>
          <a:xfrm>
            <a:off x="5596128" y="4160520"/>
            <a:ext cx="2286000" cy="475488"/>
          </a:xfrm>
          <a:prstGeom prst="rect">
            <a:avLst/>
          </a:prstGeom>
          <a:noFill/>
          <a:ln/>
        </p:spPr>
        <p:txBody>
          <a:bodyPr wrap="square" lIns="0" tIns="0" rIns="0" bIns="0" rtlCol="0" anchor="ctr"/>
          <a:lstStyle/>
          <a:p>
            <a:pPr indent="0" marL="0">
              <a:buNone/>
            </a:pPr>
            <a:r>
              <a:rPr lang="en-US" sz="2800" b="1" dirty="0">
                <a:solidFill>
                  <a:srgbClr val="F59E0B"/>
                </a:solidFill>
                <a:latin typeface="Cambria" pitchFamily="34" charset="0"/>
                <a:ea typeface="Cambria" pitchFamily="34" charset="-122"/>
                <a:cs typeface="Cambria" pitchFamily="34" charset="-120"/>
              </a:rPr>
              <a:t>20,800</a:t>
            </a:r>
            <a:endParaRPr lang="en-US" sz="2800" dirty="0"/>
          </a:p>
        </p:txBody>
      </p:sp>
      <p:sp>
        <p:nvSpPr>
          <p:cNvPr id="12" name="Text 10"/>
          <p:cNvSpPr/>
          <p:nvPr/>
        </p:nvSpPr>
        <p:spPr>
          <a:xfrm>
            <a:off x="5596128" y="4636008"/>
            <a:ext cx="2286000" cy="310896"/>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Universities worldwide</a:t>
            </a:r>
            <a:endParaRPr lang="en-US" sz="1100" dirty="0"/>
          </a:p>
        </p:txBody>
      </p:sp>
      <p:sp>
        <p:nvSpPr>
          <p:cNvPr id="13" name="Shape 11"/>
          <p:cNvSpPr/>
          <p:nvPr/>
        </p:nvSpPr>
        <p:spPr>
          <a:xfrm>
            <a:off x="566928" y="5230368"/>
            <a:ext cx="7406640" cy="0"/>
          </a:xfrm>
          <a:prstGeom prst="line">
            <a:avLst/>
          </a:prstGeom>
          <a:noFill/>
          <a:ln w="12700">
            <a:solidFill>
              <a:srgbClr val="334155"/>
            </a:solidFill>
            <a:prstDash val="solid"/>
          </a:ln>
        </p:spPr>
      </p:sp>
      <p:sp>
        <p:nvSpPr>
          <p:cNvPr id="14" name="Text 12"/>
          <p:cNvSpPr/>
          <p:nvPr/>
        </p:nvSpPr>
        <p:spPr>
          <a:xfrm>
            <a:off x="566928" y="5394960"/>
            <a:ext cx="5486400" cy="32918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Seed round · $750K ·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200" kern="0" dirty="0">
                <a:solidFill>
                  <a:srgbClr val="0E7490"/>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566928" y="658368"/>
            <a:ext cx="11055096" cy="777240"/>
          </a:xfrm>
          <a:prstGeom prst="rect">
            <a:avLst/>
          </a:prstGeom>
          <a:noFill/>
          <a:ln/>
        </p:spPr>
        <p:txBody>
          <a:bodyPr wrap="square" lIns="0" tIns="0" rIns="0" bIns="0" rtlCol="0" anchor="ctr"/>
          <a:lstStyle/>
          <a:p>
            <a:pPr indent="0" marL="0">
              <a:buNone/>
            </a:pPr>
            <a:r>
              <a:rPr lang="en-US" sz="3800" b="1" dirty="0">
                <a:solidFill>
                  <a:srgbClr val="0F172A"/>
                </a:solidFill>
                <a:latin typeface="Cambria" pitchFamily="34" charset="0"/>
                <a:ea typeface="Cambria" pitchFamily="34" charset="-122"/>
                <a:cs typeface="Cambria" pitchFamily="34" charset="-120"/>
              </a:rPr>
              <a:t>Four tools, three logins, zero audit trail</a:t>
            </a:r>
            <a:endParaRPr lang="en-US" sz="3800" dirty="0"/>
          </a:p>
        </p:txBody>
      </p:sp>
      <p:sp>
        <p:nvSpPr>
          <p:cNvPr id="4" name="Shape 2"/>
          <p:cNvSpPr/>
          <p:nvPr/>
        </p:nvSpPr>
        <p:spPr>
          <a:xfrm>
            <a:off x="566928" y="1755648"/>
            <a:ext cx="384048" cy="384048"/>
          </a:xfrm>
          <a:prstGeom prst="ellipse">
            <a:avLst/>
          </a:prstGeom>
          <a:solidFill>
            <a:srgbClr val="0F172A"/>
          </a:solidFill>
          <a:ln/>
        </p:spPr>
      </p:sp>
      <p:sp>
        <p:nvSpPr>
          <p:cNvPr id="5" name="Text 3"/>
          <p:cNvSpPr/>
          <p:nvPr/>
        </p:nvSpPr>
        <p:spPr>
          <a:xfrm>
            <a:off x="566928" y="1755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133856" y="1682496"/>
            <a:ext cx="2834640" cy="310896"/>
          </a:xfrm>
          <a:prstGeom prst="rect">
            <a:avLst/>
          </a:prstGeom>
          <a:noFill/>
          <a:ln/>
        </p:spPr>
        <p:txBody>
          <a:bodyPr wrap="square" lIns="0" tIns="0" rIns="0" bIns="0" rtlCol="0" anchor="t"/>
          <a:lstStyle/>
          <a:p>
            <a:pPr indent="0" marL="0">
              <a:buNone/>
            </a:pPr>
            <a:r>
              <a:rPr lang="en-US" sz="1450" b="1" dirty="0">
                <a:solidFill>
                  <a:srgbClr val="0F172A"/>
                </a:solidFill>
                <a:latin typeface="Calibri" pitchFamily="34" charset="0"/>
                <a:ea typeface="Calibri" pitchFamily="34" charset="-122"/>
                <a:cs typeface="Calibri" pitchFamily="34" charset="-120"/>
              </a:rPr>
              <a:t>Technoparks &amp; incubators</a:t>
            </a:r>
            <a:endParaRPr lang="en-US" sz="1450" dirty="0"/>
          </a:p>
        </p:txBody>
      </p:sp>
      <p:sp>
        <p:nvSpPr>
          <p:cNvPr id="7" name="Text 5"/>
          <p:cNvSpPr/>
          <p:nvPr/>
        </p:nvSpPr>
        <p:spPr>
          <a:xfrm>
            <a:off x="4087368" y="1682496"/>
            <a:ext cx="3931920" cy="731520"/>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Excel + email + printed jury sheets. No participant history, impact reports rebuilt by hand every cycle.</a:t>
            </a:r>
            <a:endParaRPr lang="en-US" sz="1200" dirty="0"/>
          </a:p>
        </p:txBody>
      </p:sp>
      <p:sp>
        <p:nvSpPr>
          <p:cNvPr id="8" name="Shape 6"/>
          <p:cNvSpPr/>
          <p:nvPr/>
        </p:nvSpPr>
        <p:spPr>
          <a:xfrm>
            <a:off x="566928" y="2651760"/>
            <a:ext cx="384048" cy="384048"/>
          </a:xfrm>
          <a:prstGeom prst="ellipse">
            <a:avLst/>
          </a:prstGeom>
          <a:solidFill>
            <a:srgbClr val="0F172A"/>
          </a:solidFill>
          <a:ln/>
        </p:spPr>
      </p:sp>
      <p:sp>
        <p:nvSpPr>
          <p:cNvPr id="9" name="Text 7"/>
          <p:cNvSpPr/>
          <p:nvPr/>
        </p:nvSpPr>
        <p:spPr>
          <a:xfrm>
            <a:off x="566928" y="2651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133856" y="2578608"/>
            <a:ext cx="2834640" cy="310896"/>
          </a:xfrm>
          <a:prstGeom prst="rect">
            <a:avLst/>
          </a:prstGeom>
          <a:noFill/>
          <a:ln/>
        </p:spPr>
        <p:txBody>
          <a:bodyPr wrap="square" lIns="0" tIns="0" rIns="0" bIns="0" rtlCol="0" anchor="t"/>
          <a:lstStyle/>
          <a:p>
            <a:pPr indent="0" marL="0">
              <a:buNone/>
            </a:pPr>
            <a:r>
              <a:rPr lang="en-US" sz="1450" b="1" dirty="0">
                <a:solidFill>
                  <a:srgbClr val="0F172A"/>
                </a:solidFill>
                <a:latin typeface="Calibri" pitchFamily="34" charset="0"/>
                <a:ea typeface="Calibri" pitchFamily="34" charset="-122"/>
                <a:cs typeface="Calibri" pitchFamily="34" charset="-120"/>
              </a:rPr>
              <a:t>University e-ship centres</a:t>
            </a:r>
            <a:endParaRPr lang="en-US" sz="1450" dirty="0"/>
          </a:p>
        </p:txBody>
      </p:sp>
      <p:sp>
        <p:nvSpPr>
          <p:cNvPr id="11" name="Text 9"/>
          <p:cNvSpPr/>
          <p:nvPr/>
        </p:nvSpPr>
        <p:spPr>
          <a:xfrm>
            <a:off x="4087368" y="2578608"/>
            <a:ext cx="3931920" cy="731520"/>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Campus LMS + a bought simulation + an event microsite. Three gradebooks that never reconcile.</a:t>
            </a:r>
            <a:endParaRPr lang="en-US" sz="1200" dirty="0"/>
          </a:p>
        </p:txBody>
      </p:sp>
      <p:sp>
        <p:nvSpPr>
          <p:cNvPr id="12" name="Shape 10"/>
          <p:cNvSpPr/>
          <p:nvPr/>
        </p:nvSpPr>
        <p:spPr>
          <a:xfrm>
            <a:off x="566928" y="3547872"/>
            <a:ext cx="384048" cy="384048"/>
          </a:xfrm>
          <a:prstGeom prst="ellipse">
            <a:avLst/>
          </a:prstGeom>
          <a:solidFill>
            <a:srgbClr val="0F172A"/>
          </a:solidFill>
          <a:ln/>
        </p:spPr>
      </p:sp>
      <p:sp>
        <p:nvSpPr>
          <p:cNvPr id="13" name="Text 11"/>
          <p:cNvSpPr/>
          <p:nvPr/>
        </p:nvSpPr>
        <p:spPr>
          <a:xfrm>
            <a:off x="566928" y="35478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133856" y="3474720"/>
            <a:ext cx="2834640" cy="310896"/>
          </a:xfrm>
          <a:prstGeom prst="rect">
            <a:avLst/>
          </a:prstGeom>
          <a:noFill/>
          <a:ln/>
        </p:spPr>
        <p:txBody>
          <a:bodyPr wrap="square" lIns="0" tIns="0" rIns="0" bIns="0" rtlCol="0" anchor="t"/>
          <a:lstStyle/>
          <a:p>
            <a:pPr indent="0" marL="0">
              <a:buNone/>
            </a:pPr>
            <a:r>
              <a:rPr lang="en-US" sz="1450" b="1" dirty="0">
                <a:solidFill>
                  <a:srgbClr val="0F172A"/>
                </a:solidFill>
                <a:latin typeface="Calibri" pitchFamily="34" charset="0"/>
                <a:ea typeface="Calibri" pitchFamily="34" charset="-122"/>
                <a:cs typeface="Calibri" pitchFamily="34" charset="-120"/>
              </a:rPr>
              <a:t>Accelerators</a:t>
            </a:r>
            <a:endParaRPr lang="en-US" sz="1450" dirty="0"/>
          </a:p>
        </p:txBody>
      </p:sp>
      <p:sp>
        <p:nvSpPr>
          <p:cNvPr id="15" name="Text 13"/>
          <p:cNvSpPr/>
          <p:nvPr/>
        </p:nvSpPr>
        <p:spPr>
          <a:xfrm>
            <a:off x="4087368" y="3474720"/>
            <a:ext cx="3931920" cy="731520"/>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Judging starts at submission — the platform has no idea what the cohort actually learned.</a:t>
            </a:r>
            <a:endParaRPr lang="en-US" sz="1200" dirty="0"/>
          </a:p>
        </p:txBody>
      </p:sp>
      <p:sp>
        <p:nvSpPr>
          <p:cNvPr id="16" name="Shape 14"/>
          <p:cNvSpPr/>
          <p:nvPr/>
        </p:nvSpPr>
        <p:spPr>
          <a:xfrm>
            <a:off x="566928" y="4443984"/>
            <a:ext cx="384048" cy="384048"/>
          </a:xfrm>
          <a:prstGeom prst="ellipse">
            <a:avLst/>
          </a:prstGeom>
          <a:solidFill>
            <a:srgbClr val="0F172A"/>
          </a:solidFill>
          <a:ln/>
        </p:spPr>
      </p:sp>
      <p:sp>
        <p:nvSpPr>
          <p:cNvPr id="17" name="Text 15"/>
          <p:cNvSpPr/>
          <p:nvPr/>
        </p:nvSpPr>
        <p:spPr>
          <a:xfrm>
            <a:off x="566928" y="44439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1133856" y="4370832"/>
            <a:ext cx="2834640" cy="310896"/>
          </a:xfrm>
          <a:prstGeom prst="rect">
            <a:avLst/>
          </a:prstGeom>
          <a:noFill/>
          <a:ln/>
        </p:spPr>
        <p:txBody>
          <a:bodyPr wrap="square" lIns="0" tIns="0" rIns="0" bIns="0" rtlCol="0" anchor="t"/>
          <a:lstStyle/>
          <a:p>
            <a:pPr indent="0" marL="0">
              <a:buNone/>
            </a:pPr>
            <a:r>
              <a:rPr lang="en-US" sz="1450" b="1" dirty="0">
                <a:solidFill>
                  <a:srgbClr val="0F172A"/>
                </a:solidFill>
                <a:latin typeface="Calibri" pitchFamily="34" charset="0"/>
                <a:ea typeface="Calibri" pitchFamily="34" charset="-122"/>
                <a:cs typeface="Calibri" pitchFamily="34" charset="-120"/>
              </a:rPr>
              <a:t>Government agencies</a:t>
            </a:r>
            <a:endParaRPr lang="en-US" sz="1450" dirty="0"/>
          </a:p>
        </p:txBody>
      </p:sp>
      <p:sp>
        <p:nvSpPr>
          <p:cNvPr id="19" name="Text 17"/>
          <p:cNvSpPr/>
          <p:nvPr/>
        </p:nvSpPr>
        <p:spPr>
          <a:xfrm>
            <a:off x="4087368" y="4370832"/>
            <a:ext cx="3931920" cy="731520"/>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A bespoke build per program. Cost never amortises, no cross-program comparison.</a:t>
            </a:r>
            <a:endParaRPr lang="en-US" sz="1200" dirty="0"/>
          </a:p>
        </p:txBody>
      </p:sp>
      <p:sp>
        <p:nvSpPr>
          <p:cNvPr id="20" name="Shape 18"/>
          <p:cNvSpPr/>
          <p:nvPr/>
        </p:nvSpPr>
        <p:spPr>
          <a:xfrm>
            <a:off x="8275320" y="1627632"/>
            <a:ext cx="3346704" cy="3657600"/>
          </a:xfrm>
          <a:prstGeom prst="roundRect">
            <a:avLst>
              <a:gd name="adj" fmla="val 1639"/>
            </a:avLst>
          </a:prstGeom>
          <a:solidFill>
            <a:srgbClr val="0F172A"/>
          </a:solidFill>
          <a:ln w="9525">
            <a:solidFill>
              <a:srgbClr val="E2E8F0"/>
            </a:solidFill>
            <a:prstDash val="solid"/>
          </a:ln>
        </p:spPr>
      </p:sp>
      <p:sp>
        <p:nvSpPr>
          <p:cNvPr id="21" name="Text 19"/>
          <p:cNvSpPr/>
          <p:nvPr/>
        </p:nvSpPr>
        <p:spPr>
          <a:xfrm>
            <a:off x="8549640" y="1828800"/>
            <a:ext cx="2834640" cy="310896"/>
          </a:xfrm>
          <a:prstGeom prst="rect">
            <a:avLst/>
          </a:prstGeom>
          <a:noFill/>
          <a:ln/>
        </p:spPr>
        <p:txBody>
          <a:bodyPr wrap="square" lIns="0" tIns="0" rIns="0" bIns="0" rtlCol="0" anchor="ctr"/>
          <a:lstStyle/>
          <a:p>
            <a:pPr indent="0" marL="0">
              <a:buNone/>
            </a:pPr>
            <a:r>
              <a:rPr lang="en-US" sz="1200" b="1" spc="150" kern="0" dirty="0">
                <a:solidFill>
                  <a:srgbClr val="F59E0B"/>
                </a:solidFill>
                <a:latin typeface="Calibri" pitchFamily="34" charset="0"/>
                <a:ea typeface="Calibri" pitchFamily="34" charset="-122"/>
                <a:cs typeface="Calibri" pitchFamily="34" charset="-120"/>
              </a:rPr>
              <a:t>The sharp pain</a:t>
            </a:r>
            <a:endParaRPr lang="en-US" sz="1200" dirty="0"/>
          </a:p>
        </p:txBody>
      </p:sp>
      <p:sp>
        <p:nvSpPr>
          <p:cNvPr id="22" name="Text 20"/>
          <p:cNvSpPr/>
          <p:nvPr/>
        </p:nvSpPr>
        <p:spPr>
          <a:xfrm>
            <a:off x="8549640" y="2212848"/>
            <a:ext cx="2834640" cy="82296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Hackathon judging is</a:t>
            </a:r>
            <a:endParaRPr lang="en-US" sz="2200" dirty="0"/>
          </a:p>
          <a:p>
            <a:pPr indent="0" marL="0">
              <a:buNone/>
            </a:pPr>
            <a:r>
              <a:rPr lang="en-US" sz="2200" b="1" dirty="0">
                <a:solidFill>
                  <a:srgbClr val="FFFFFF"/>
                </a:solidFill>
                <a:latin typeface="Cambria" pitchFamily="34" charset="0"/>
                <a:ea typeface="Cambria" pitchFamily="34" charset="-122"/>
                <a:cs typeface="Cambria" pitchFamily="34" charset="-120"/>
              </a:rPr>
              <a:t>unauditable.</a:t>
            </a:r>
            <a:endParaRPr lang="en-US" sz="2200" dirty="0"/>
          </a:p>
        </p:txBody>
      </p:sp>
      <p:sp>
        <p:nvSpPr>
          <p:cNvPr id="23" name="Text 21"/>
          <p:cNvSpPr/>
          <p:nvPr/>
        </p:nvSpPr>
        <p:spPr>
          <a:xfrm>
            <a:off x="8549640" y="3145536"/>
            <a:ext cx="2834640" cy="1097280"/>
          </a:xfrm>
          <a:prstGeom prst="rect">
            <a:avLst/>
          </a:prstGeom>
          <a:noFill/>
          <a:ln/>
        </p:spPr>
        <p:txBody>
          <a:bodyPr wrap="square" lIns="0" tIns="0" rIns="0" bIns="0" rtlCol="0" anchor="ctr"/>
          <a:lstStyle/>
          <a:p>
            <a:pPr indent="0" marL="0">
              <a:lnSpc>
                <a:spcPts val="1600"/>
              </a:lnSpc>
              <a:buNone/>
            </a:pPr>
            <a:r>
              <a:rPr lang="en-US" sz="1200" dirty="0">
                <a:solidFill>
                  <a:srgbClr val="CBD5E1"/>
                </a:solidFill>
                <a:latin typeface="Calibri" pitchFamily="34" charset="0"/>
                <a:ea typeface="Calibri" pitchFamily="34" charset="-122"/>
                <a:cs typeface="Calibri" pitchFamily="34" charset="-120"/>
              </a:rPr>
              <a:t>Who scored what, against which criterion, at what weight — nobody can reconstruct it.</a:t>
            </a:r>
            <a:endParaRPr lang="en-US" sz="1200" dirty="0"/>
          </a:p>
          <a:p>
            <a:pPr indent="0" marL="0">
              <a:lnSpc>
                <a:spcPts val="1600"/>
              </a:lnSpc>
              <a:buNone/>
            </a:pPr>
            <a:r>
              <a:rPr lang="en-US" sz="1200" dirty="0">
                <a:solidFill>
                  <a:srgbClr val="CBD5E1"/>
                </a:solidFill>
                <a:latin typeface="Calibri" pitchFamily="34" charset="0"/>
                <a:ea typeface="Calibri" pitchFamily="34" charset="-122"/>
                <a:cs typeface="Calibri" pitchFamily="34" charset="-120"/>
              </a:rPr>
              <a:t>Institutions defend results they cannot evidence.</a:t>
            </a:r>
            <a:endParaRPr lang="en-US" sz="1200" dirty="0"/>
          </a:p>
        </p:txBody>
      </p:sp>
      <p:sp>
        <p:nvSpPr>
          <p:cNvPr id="24" name="Text 22"/>
          <p:cNvSpPr/>
          <p:nvPr/>
        </p:nvSpPr>
        <p:spPr>
          <a:xfrm>
            <a:off x="8549640" y="4315968"/>
            <a:ext cx="2834640" cy="365760"/>
          </a:xfrm>
          <a:prstGeom prst="rect">
            <a:avLst/>
          </a:prstGeom>
          <a:noFill/>
          <a:ln/>
        </p:spPr>
        <p:txBody>
          <a:bodyPr wrap="square" lIns="0" tIns="0" rIns="0" bIns="0" rtlCol="0" anchor="ctr"/>
          <a:lstStyle/>
          <a:p>
            <a:pPr indent="0" marL="0">
              <a:buNone/>
            </a:pPr>
            <a:r>
              <a:rPr lang="en-US" sz="1900" b="1" dirty="0">
                <a:solidFill>
                  <a:srgbClr val="F59E0B"/>
                </a:solidFill>
                <a:latin typeface="Cambria" pitchFamily="34" charset="0"/>
                <a:ea typeface="Cambria" pitchFamily="34" charset="-122"/>
                <a:cs typeface="Cambria" pitchFamily="34" charset="-120"/>
              </a:rPr>
              <a:t>$3,250–$6,500/yr</a:t>
            </a:r>
            <a:endParaRPr lang="en-US" sz="1900" dirty="0"/>
          </a:p>
        </p:txBody>
      </p:sp>
      <p:sp>
        <p:nvSpPr>
          <p:cNvPr id="25" name="Text 23"/>
          <p:cNvSpPr/>
          <p:nvPr/>
        </p:nvSpPr>
        <p:spPr>
          <a:xfrm>
            <a:off x="8549640" y="4681728"/>
            <a:ext cx="2834640" cy="45720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What a standalone judging tool alone costs (Award Force)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200" kern="0" dirty="0">
                <a:solidFill>
                  <a:srgbClr val="0E7490"/>
                </a:solidFill>
                <a:latin typeface="Calibri" pitchFamily="34" charset="0"/>
                <a:ea typeface="Calibri" pitchFamily="34" charset="-122"/>
                <a:cs typeface="Calibri" pitchFamily="34" charset="-120"/>
              </a:rPr>
              <a:t>THE SOLUTION</a:t>
            </a:r>
            <a:endParaRPr lang="en-US" sz="1100" dirty="0"/>
          </a:p>
        </p:txBody>
      </p:sp>
      <p:sp>
        <p:nvSpPr>
          <p:cNvPr id="3" name="Text 1"/>
          <p:cNvSpPr/>
          <p:nvPr/>
        </p:nvSpPr>
        <p:spPr>
          <a:xfrm>
            <a:off x="566928" y="658368"/>
            <a:ext cx="11055096" cy="777240"/>
          </a:xfrm>
          <a:prstGeom prst="rect">
            <a:avLst/>
          </a:prstGeom>
          <a:noFill/>
          <a:ln/>
        </p:spPr>
        <p:txBody>
          <a:bodyPr wrap="square" lIns="0" tIns="0" rIns="0" bIns="0" rtlCol="0" anchor="ctr"/>
          <a:lstStyle/>
          <a:p>
            <a:pPr indent="0" marL="0">
              <a:buNone/>
            </a:pPr>
            <a:r>
              <a:rPr lang="en-US" sz="3800" b="1" dirty="0">
                <a:solidFill>
                  <a:srgbClr val="0F172A"/>
                </a:solidFill>
                <a:latin typeface="Cambria" pitchFamily="34" charset="0"/>
                <a:ea typeface="Cambria" pitchFamily="34" charset="-122"/>
                <a:cs typeface="Cambria" pitchFamily="34" charset="-120"/>
              </a:rPr>
              <a:t>One platform. One participant record.</a:t>
            </a:r>
            <a:endParaRPr lang="en-US" sz="3800" dirty="0"/>
          </a:p>
        </p:txBody>
      </p:sp>
      <p:sp>
        <p:nvSpPr>
          <p:cNvPr id="4" name="Text 2"/>
          <p:cNvSpPr/>
          <p:nvPr/>
        </p:nvSpPr>
        <p:spPr>
          <a:xfrm>
            <a:off x="566928" y="1481328"/>
            <a:ext cx="10515600" cy="365760"/>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Every stage writes to the same profile — the jury score sits next to the exam result sits next to the lessons completed.</a:t>
            </a:r>
            <a:endParaRPr lang="en-US" sz="1350" dirty="0"/>
          </a:p>
        </p:txBody>
      </p:sp>
      <p:sp>
        <p:nvSpPr>
          <p:cNvPr id="5" name="Shape 3"/>
          <p:cNvSpPr/>
          <p:nvPr/>
        </p:nvSpPr>
        <p:spPr>
          <a:xfrm>
            <a:off x="566928" y="2084832"/>
            <a:ext cx="2072030" cy="1975104"/>
          </a:xfrm>
          <a:prstGeom prst="roundRect">
            <a:avLst>
              <a:gd name="adj" fmla="val 2778"/>
            </a:avLst>
          </a:prstGeom>
          <a:solidFill>
            <a:srgbClr val="F1F5F9"/>
          </a:solidFill>
          <a:ln w="9525">
            <a:solidFill>
              <a:srgbClr val="E2E8F0"/>
            </a:solidFill>
            <a:prstDash val="solid"/>
          </a:ln>
        </p:spPr>
      </p:sp>
      <p:sp>
        <p:nvSpPr>
          <p:cNvPr id="6" name="Shape 4"/>
          <p:cNvSpPr/>
          <p:nvPr/>
        </p:nvSpPr>
        <p:spPr>
          <a:xfrm>
            <a:off x="786384" y="2286000"/>
            <a:ext cx="457200" cy="457200"/>
          </a:xfrm>
          <a:prstGeom prst="ellipse">
            <a:avLst/>
          </a:prstGeom>
          <a:solidFill>
            <a:srgbClr val="0F172A"/>
          </a:solidFill>
          <a:ln/>
        </p:spPr>
      </p:sp>
      <p:sp>
        <p:nvSpPr>
          <p:cNvPr id="7" name="Text 5"/>
          <p:cNvSpPr/>
          <p:nvPr/>
        </p:nvSpPr>
        <p:spPr>
          <a:xfrm>
            <a:off x="786384" y="22860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786384" y="2852928"/>
            <a:ext cx="1633118" cy="329184"/>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Onboard</a:t>
            </a:r>
            <a:endParaRPr lang="en-US" sz="1500" dirty="0"/>
          </a:p>
        </p:txBody>
      </p:sp>
      <p:sp>
        <p:nvSpPr>
          <p:cNvPr id="9" name="Text 7"/>
          <p:cNvSpPr/>
          <p:nvPr/>
        </p:nvSpPr>
        <p:spPr>
          <a:xfrm>
            <a:off x="786384" y="3163824"/>
            <a:ext cx="1633118" cy="1188720"/>
          </a:xfrm>
          <a:prstGeom prst="rect">
            <a:avLst/>
          </a:prstGeom>
          <a:noFill/>
          <a:ln/>
        </p:spPr>
        <p:txBody>
          <a:bodyPr wrap="square" lIns="0" tIns="0" rIns="0" bIns="0" rtlCol="0" anchor="t"/>
          <a:lstStyle/>
          <a:p>
            <a:pPr indent="0" marL="0">
              <a:lnSpc>
                <a:spcPts val="1400"/>
              </a:lnSpc>
              <a:buNone/>
            </a:pPr>
            <a:r>
              <a:rPr lang="en-US" sz="1100" dirty="0">
                <a:solidFill>
                  <a:srgbClr val="1E293B"/>
                </a:solidFill>
                <a:latin typeface="Calibri" pitchFamily="34" charset="0"/>
                <a:ea typeface="Calibri" pitchFamily="34" charset="-122"/>
                <a:cs typeface="Calibri" pitchFamily="34" charset="-120"/>
              </a:rPr>
              <a:t>QR code / invite link. Atomic seat licensing — no overselling.</a:t>
            </a:r>
            <a:endParaRPr lang="en-US" sz="1100" dirty="0"/>
          </a:p>
        </p:txBody>
      </p:sp>
      <p:sp>
        <p:nvSpPr>
          <p:cNvPr id="10" name="Shape 8"/>
          <p:cNvSpPr/>
          <p:nvPr/>
        </p:nvSpPr>
        <p:spPr>
          <a:xfrm>
            <a:off x="2812694" y="2084832"/>
            <a:ext cx="2072030" cy="1975104"/>
          </a:xfrm>
          <a:prstGeom prst="roundRect">
            <a:avLst>
              <a:gd name="adj" fmla="val 2778"/>
            </a:avLst>
          </a:prstGeom>
          <a:solidFill>
            <a:srgbClr val="F1F5F9"/>
          </a:solidFill>
          <a:ln w="9525">
            <a:solidFill>
              <a:srgbClr val="E2E8F0"/>
            </a:solidFill>
            <a:prstDash val="solid"/>
          </a:ln>
        </p:spPr>
      </p:sp>
      <p:sp>
        <p:nvSpPr>
          <p:cNvPr id="11" name="Shape 9"/>
          <p:cNvSpPr/>
          <p:nvPr/>
        </p:nvSpPr>
        <p:spPr>
          <a:xfrm>
            <a:off x="3032150" y="2286000"/>
            <a:ext cx="457200" cy="457200"/>
          </a:xfrm>
          <a:prstGeom prst="ellipse">
            <a:avLst/>
          </a:prstGeom>
          <a:solidFill>
            <a:srgbClr val="0F172A"/>
          </a:solidFill>
          <a:ln/>
        </p:spPr>
      </p:sp>
      <p:sp>
        <p:nvSpPr>
          <p:cNvPr id="12" name="Text 10"/>
          <p:cNvSpPr/>
          <p:nvPr/>
        </p:nvSpPr>
        <p:spPr>
          <a:xfrm>
            <a:off x="3032150" y="22860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3032150" y="2852928"/>
            <a:ext cx="1633118" cy="329184"/>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Teach</a:t>
            </a:r>
            <a:endParaRPr lang="en-US" sz="1500" dirty="0"/>
          </a:p>
        </p:txBody>
      </p:sp>
      <p:sp>
        <p:nvSpPr>
          <p:cNvPr id="14" name="Text 12"/>
          <p:cNvSpPr/>
          <p:nvPr/>
        </p:nvSpPr>
        <p:spPr>
          <a:xfrm>
            <a:off x="3032150" y="3163824"/>
            <a:ext cx="1633118" cy="1188720"/>
          </a:xfrm>
          <a:prstGeom prst="rect">
            <a:avLst/>
          </a:prstGeom>
          <a:noFill/>
          <a:ln/>
        </p:spPr>
        <p:txBody>
          <a:bodyPr wrap="square" lIns="0" tIns="0" rIns="0" bIns="0" rtlCol="0" anchor="t"/>
          <a:lstStyle/>
          <a:p>
            <a:pPr indent="0" marL="0">
              <a:lnSpc>
                <a:spcPts val="1400"/>
              </a:lnSpc>
              <a:buNone/>
            </a:pPr>
            <a:r>
              <a:rPr lang="en-US" sz="1100" dirty="0">
                <a:solidFill>
                  <a:srgbClr val="1E293B"/>
                </a:solidFill>
                <a:latin typeface="Calibri" pitchFamily="34" charset="0"/>
                <a:ea typeface="Calibri" pitchFamily="34" charset="-122"/>
                <a:cs typeface="Calibri" pitchFamily="34" charset="-120"/>
              </a:rPr>
              <a:t>Video courses, per-lesson progress, playlists.</a:t>
            </a:r>
            <a:endParaRPr lang="en-US" sz="1100" dirty="0"/>
          </a:p>
        </p:txBody>
      </p:sp>
      <p:sp>
        <p:nvSpPr>
          <p:cNvPr id="15" name="Shape 13"/>
          <p:cNvSpPr/>
          <p:nvPr/>
        </p:nvSpPr>
        <p:spPr>
          <a:xfrm>
            <a:off x="5058461" y="2084832"/>
            <a:ext cx="2072030" cy="1975104"/>
          </a:xfrm>
          <a:prstGeom prst="roundRect">
            <a:avLst>
              <a:gd name="adj" fmla="val 2778"/>
            </a:avLst>
          </a:prstGeom>
          <a:solidFill>
            <a:srgbClr val="F1F5F9"/>
          </a:solidFill>
          <a:ln w="9525">
            <a:solidFill>
              <a:srgbClr val="E2E8F0"/>
            </a:solidFill>
            <a:prstDash val="solid"/>
          </a:ln>
        </p:spPr>
      </p:sp>
      <p:sp>
        <p:nvSpPr>
          <p:cNvPr id="16" name="Shape 14"/>
          <p:cNvSpPr/>
          <p:nvPr/>
        </p:nvSpPr>
        <p:spPr>
          <a:xfrm>
            <a:off x="5277917" y="2286000"/>
            <a:ext cx="457200" cy="457200"/>
          </a:xfrm>
          <a:prstGeom prst="ellipse">
            <a:avLst/>
          </a:prstGeom>
          <a:solidFill>
            <a:srgbClr val="0F172A"/>
          </a:solidFill>
          <a:ln/>
        </p:spPr>
      </p:sp>
      <p:sp>
        <p:nvSpPr>
          <p:cNvPr id="17" name="Text 15"/>
          <p:cNvSpPr/>
          <p:nvPr/>
        </p:nvSpPr>
        <p:spPr>
          <a:xfrm>
            <a:off x="5277917" y="22860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p:nvPr/>
        </p:nvSpPr>
        <p:spPr>
          <a:xfrm>
            <a:off x="5277917" y="2852928"/>
            <a:ext cx="1633118" cy="329184"/>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Test</a:t>
            </a:r>
            <a:endParaRPr lang="en-US" sz="1500" dirty="0"/>
          </a:p>
        </p:txBody>
      </p:sp>
      <p:sp>
        <p:nvSpPr>
          <p:cNvPr id="19" name="Text 17"/>
          <p:cNvSpPr/>
          <p:nvPr/>
        </p:nvSpPr>
        <p:spPr>
          <a:xfrm>
            <a:off x="5277917" y="3163824"/>
            <a:ext cx="1633118" cy="1188720"/>
          </a:xfrm>
          <a:prstGeom prst="rect">
            <a:avLst/>
          </a:prstGeom>
          <a:noFill/>
          <a:ln/>
        </p:spPr>
        <p:txBody>
          <a:bodyPr wrap="square" lIns="0" tIns="0" rIns="0" bIns="0" rtlCol="0" anchor="t"/>
          <a:lstStyle/>
          <a:p>
            <a:pPr indent="0" marL="0">
              <a:lnSpc>
                <a:spcPts val="1400"/>
              </a:lnSpc>
              <a:buNone/>
            </a:pPr>
            <a:r>
              <a:rPr lang="en-US" sz="1100" dirty="0">
                <a:solidFill>
                  <a:srgbClr val="1E293B"/>
                </a:solidFill>
                <a:latin typeface="Calibri" pitchFamily="34" charset="0"/>
                <a:ea typeface="Calibri" pitchFamily="34" charset="-122"/>
                <a:cs typeface="Calibri" pitchFamily="34" charset="-120"/>
              </a:rPr>
              <a:t>Server-side grading. Answers never reach the browser.</a:t>
            </a:r>
            <a:endParaRPr lang="en-US" sz="1100" dirty="0"/>
          </a:p>
        </p:txBody>
      </p:sp>
      <p:sp>
        <p:nvSpPr>
          <p:cNvPr id="20" name="Shape 18"/>
          <p:cNvSpPr/>
          <p:nvPr/>
        </p:nvSpPr>
        <p:spPr>
          <a:xfrm>
            <a:off x="7304227" y="2084832"/>
            <a:ext cx="2072030" cy="1975104"/>
          </a:xfrm>
          <a:prstGeom prst="roundRect">
            <a:avLst>
              <a:gd name="adj" fmla="val 2778"/>
            </a:avLst>
          </a:prstGeom>
          <a:solidFill>
            <a:srgbClr val="F1F5F9"/>
          </a:solidFill>
          <a:ln w="9525">
            <a:solidFill>
              <a:srgbClr val="E2E8F0"/>
            </a:solidFill>
            <a:prstDash val="solid"/>
          </a:ln>
        </p:spPr>
      </p:sp>
      <p:sp>
        <p:nvSpPr>
          <p:cNvPr id="21" name="Shape 19"/>
          <p:cNvSpPr/>
          <p:nvPr/>
        </p:nvSpPr>
        <p:spPr>
          <a:xfrm>
            <a:off x="7523683" y="2286000"/>
            <a:ext cx="457200" cy="457200"/>
          </a:xfrm>
          <a:prstGeom prst="ellipse">
            <a:avLst/>
          </a:prstGeom>
          <a:solidFill>
            <a:srgbClr val="F59E0B"/>
          </a:solidFill>
          <a:ln/>
        </p:spPr>
      </p:sp>
      <p:sp>
        <p:nvSpPr>
          <p:cNvPr id="22" name="Text 20"/>
          <p:cNvSpPr/>
          <p:nvPr/>
        </p:nvSpPr>
        <p:spPr>
          <a:xfrm>
            <a:off x="7523683" y="2286000"/>
            <a:ext cx="457200" cy="457200"/>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4</a:t>
            </a:r>
            <a:endParaRPr lang="en-US" sz="1500" dirty="0"/>
          </a:p>
        </p:txBody>
      </p:sp>
      <p:sp>
        <p:nvSpPr>
          <p:cNvPr id="23" name="Text 21"/>
          <p:cNvSpPr/>
          <p:nvPr/>
        </p:nvSpPr>
        <p:spPr>
          <a:xfrm>
            <a:off x="7523683" y="2852928"/>
            <a:ext cx="1633118" cy="329184"/>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Compete</a:t>
            </a:r>
            <a:endParaRPr lang="en-US" sz="1500" dirty="0"/>
          </a:p>
        </p:txBody>
      </p:sp>
      <p:sp>
        <p:nvSpPr>
          <p:cNvPr id="24" name="Text 22"/>
          <p:cNvSpPr/>
          <p:nvPr/>
        </p:nvSpPr>
        <p:spPr>
          <a:xfrm>
            <a:off x="7523683" y="3163824"/>
            <a:ext cx="1633118" cy="1188720"/>
          </a:xfrm>
          <a:prstGeom prst="rect">
            <a:avLst/>
          </a:prstGeom>
          <a:noFill/>
          <a:ln/>
        </p:spPr>
        <p:txBody>
          <a:bodyPr wrap="square" lIns="0" tIns="0" rIns="0" bIns="0" rtlCol="0" anchor="t"/>
          <a:lstStyle/>
          <a:p>
            <a:pPr indent="0" marL="0">
              <a:lnSpc>
                <a:spcPts val="1400"/>
              </a:lnSpc>
              <a:buNone/>
            </a:pPr>
            <a:r>
              <a:rPr lang="en-US" sz="1100" dirty="0">
                <a:solidFill>
                  <a:srgbClr val="1E293B"/>
                </a:solidFill>
                <a:latin typeface="Calibri" pitchFamily="34" charset="0"/>
                <a:ea typeface="Calibri" pitchFamily="34" charset="-122"/>
                <a:cs typeface="Calibri" pitchFamily="34" charset="-120"/>
              </a:rPr>
              <a:t>Teams, PDF submission, weighted jury criteria, live leaderboard, timed reveal.</a:t>
            </a:r>
            <a:endParaRPr lang="en-US" sz="1100" dirty="0"/>
          </a:p>
        </p:txBody>
      </p:sp>
      <p:sp>
        <p:nvSpPr>
          <p:cNvPr id="25" name="Shape 23"/>
          <p:cNvSpPr/>
          <p:nvPr/>
        </p:nvSpPr>
        <p:spPr>
          <a:xfrm>
            <a:off x="9549994" y="2084832"/>
            <a:ext cx="2072030" cy="1975104"/>
          </a:xfrm>
          <a:prstGeom prst="roundRect">
            <a:avLst>
              <a:gd name="adj" fmla="val 2778"/>
            </a:avLst>
          </a:prstGeom>
          <a:solidFill>
            <a:srgbClr val="F1F5F9"/>
          </a:solidFill>
          <a:ln w="9525">
            <a:solidFill>
              <a:srgbClr val="E2E8F0"/>
            </a:solidFill>
            <a:prstDash val="solid"/>
          </a:ln>
        </p:spPr>
      </p:sp>
      <p:sp>
        <p:nvSpPr>
          <p:cNvPr id="26" name="Shape 24"/>
          <p:cNvSpPr/>
          <p:nvPr/>
        </p:nvSpPr>
        <p:spPr>
          <a:xfrm>
            <a:off x="9769450" y="2286000"/>
            <a:ext cx="457200" cy="457200"/>
          </a:xfrm>
          <a:prstGeom prst="ellipse">
            <a:avLst/>
          </a:prstGeom>
          <a:solidFill>
            <a:srgbClr val="0F172A"/>
          </a:solidFill>
          <a:ln/>
        </p:spPr>
      </p:sp>
      <p:sp>
        <p:nvSpPr>
          <p:cNvPr id="27" name="Text 25"/>
          <p:cNvSpPr/>
          <p:nvPr/>
        </p:nvSpPr>
        <p:spPr>
          <a:xfrm>
            <a:off x="9769450" y="22860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8" name="Text 26"/>
          <p:cNvSpPr/>
          <p:nvPr/>
        </p:nvSpPr>
        <p:spPr>
          <a:xfrm>
            <a:off x="9769450" y="2852928"/>
            <a:ext cx="1633118" cy="329184"/>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Certify</a:t>
            </a:r>
            <a:endParaRPr lang="en-US" sz="1500" dirty="0"/>
          </a:p>
        </p:txBody>
      </p:sp>
      <p:sp>
        <p:nvSpPr>
          <p:cNvPr id="29" name="Text 27"/>
          <p:cNvSpPr/>
          <p:nvPr/>
        </p:nvSpPr>
        <p:spPr>
          <a:xfrm>
            <a:off x="9769450" y="3163824"/>
            <a:ext cx="1633118" cy="1188720"/>
          </a:xfrm>
          <a:prstGeom prst="rect">
            <a:avLst/>
          </a:prstGeom>
          <a:noFill/>
          <a:ln/>
        </p:spPr>
        <p:txBody>
          <a:bodyPr wrap="square" lIns="0" tIns="0" rIns="0" bIns="0" rtlCol="0" anchor="t"/>
          <a:lstStyle/>
          <a:p>
            <a:pPr indent="0" marL="0">
              <a:lnSpc>
                <a:spcPts val="1400"/>
              </a:lnSpc>
              <a:buNone/>
            </a:pPr>
            <a:r>
              <a:rPr lang="en-US" sz="1100" dirty="0">
                <a:solidFill>
                  <a:srgbClr val="1E293B"/>
                </a:solidFill>
                <a:latin typeface="Calibri" pitchFamily="34" charset="0"/>
                <a:ea typeface="Calibri" pitchFamily="34" charset="-122"/>
                <a:cs typeface="Calibri" pitchFamily="34" charset="-120"/>
              </a:rPr>
              <a:t>Participation, achievement and completion certificates.</a:t>
            </a:r>
            <a:endParaRPr lang="en-US" sz="1100" dirty="0"/>
          </a:p>
        </p:txBody>
      </p:sp>
      <p:sp>
        <p:nvSpPr>
          <p:cNvPr id="30" name="Shape 28"/>
          <p:cNvSpPr/>
          <p:nvPr/>
        </p:nvSpPr>
        <p:spPr>
          <a:xfrm>
            <a:off x="566928" y="4443984"/>
            <a:ext cx="11055096" cy="1060704"/>
          </a:xfrm>
          <a:prstGeom prst="roundRect">
            <a:avLst>
              <a:gd name="adj" fmla="val 5172"/>
            </a:avLst>
          </a:prstGeom>
          <a:solidFill>
            <a:srgbClr val="0F172A"/>
          </a:solidFill>
          <a:ln w="9525">
            <a:solidFill>
              <a:srgbClr val="E2E8F0"/>
            </a:solidFill>
            <a:prstDash val="solid"/>
          </a:ln>
        </p:spPr>
      </p:sp>
      <p:sp>
        <p:nvSpPr>
          <p:cNvPr id="31" name="Text 29"/>
          <p:cNvSpPr/>
          <p:nvPr/>
        </p:nvSpPr>
        <p:spPr>
          <a:xfrm>
            <a:off x="841248" y="4590288"/>
            <a:ext cx="4754880" cy="310896"/>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Hard multi-tenancy is the architecture bet</a:t>
            </a:r>
            <a:endParaRPr lang="en-US" sz="1400" dirty="0"/>
          </a:p>
        </p:txBody>
      </p:sp>
      <p:sp>
        <p:nvSpPr>
          <p:cNvPr id="32" name="Text 30"/>
          <p:cNvSpPr/>
          <p:nvPr/>
        </p:nvSpPr>
        <p:spPr>
          <a:xfrm>
            <a:off x="841248" y="4901184"/>
            <a:ext cx="10424160" cy="45720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Every institution runs under its own brand. tenantId on every model + PostgreSQL row-level security + a 5-role permission matrix locked by tests. One codebase serves a university, a technopark and a ministry without forking.</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200" kern="0" dirty="0">
                <a:solidFill>
                  <a:srgbClr val="0E7490"/>
                </a:solidFill>
                <a:latin typeface="Calibri" pitchFamily="34" charset="0"/>
                <a:ea typeface="Calibri" pitchFamily="34" charset="-122"/>
                <a:cs typeface="Calibri" pitchFamily="34" charset="-120"/>
              </a:rPr>
              <a:t>PRODUCT</a:t>
            </a:r>
            <a:endParaRPr lang="en-US" sz="1100" dirty="0"/>
          </a:p>
        </p:txBody>
      </p:sp>
      <p:sp>
        <p:nvSpPr>
          <p:cNvPr id="3" name="Text 1"/>
          <p:cNvSpPr/>
          <p:nvPr/>
        </p:nvSpPr>
        <p:spPr>
          <a:xfrm>
            <a:off x="566928" y="658368"/>
            <a:ext cx="11055096" cy="777240"/>
          </a:xfrm>
          <a:prstGeom prst="rect">
            <a:avLst/>
          </a:prstGeom>
          <a:noFill/>
          <a:ln/>
        </p:spPr>
        <p:txBody>
          <a:bodyPr wrap="square" lIns="0" tIns="0" rIns="0" bIns="0" rtlCol="0" anchor="ctr"/>
          <a:lstStyle/>
          <a:p>
            <a:pPr indent="0" marL="0">
              <a:buNone/>
            </a:pPr>
            <a:r>
              <a:rPr lang="en-US" sz="3800" b="1" dirty="0">
                <a:solidFill>
                  <a:srgbClr val="0F172A"/>
                </a:solidFill>
                <a:latin typeface="Cambria" pitchFamily="34" charset="0"/>
                <a:ea typeface="Cambria" pitchFamily="34" charset="-122"/>
                <a:cs typeface="Cambria" pitchFamily="34" charset="-120"/>
              </a:rPr>
              <a:t>Built, tested, and running today</a:t>
            </a:r>
            <a:endParaRPr lang="en-US" sz="3800" dirty="0"/>
          </a:p>
        </p:txBody>
      </p:sp>
      <p:sp>
        <p:nvSpPr>
          <p:cNvPr id="4" name="Shape 2"/>
          <p:cNvSpPr/>
          <p:nvPr/>
        </p:nvSpPr>
        <p:spPr>
          <a:xfrm>
            <a:off x="566928" y="1627632"/>
            <a:ext cx="5806440" cy="2523744"/>
          </a:xfrm>
          <a:prstGeom prst="roundRect">
            <a:avLst>
              <a:gd name="adj" fmla="val 2174"/>
            </a:avLst>
          </a:prstGeom>
          <a:solidFill>
            <a:srgbClr val="F1F5F9"/>
          </a:solidFill>
          <a:ln w="9525">
            <a:solidFill>
              <a:srgbClr val="E2E8F0"/>
            </a:solidFill>
            <a:prstDash val="solid"/>
          </a:ln>
        </p:spPr>
      </p:sp>
      <p:sp>
        <p:nvSpPr>
          <p:cNvPr id="5" name="Text 3"/>
          <p:cNvSpPr/>
          <p:nvPr/>
        </p:nvSpPr>
        <p:spPr>
          <a:xfrm>
            <a:off x="841248" y="1792224"/>
            <a:ext cx="1828800" cy="274320"/>
          </a:xfrm>
          <a:prstGeom prst="rect">
            <a:avLst/>
          </a:prstGeom>
          <a:noFill/>
          <a:ln/>
        </p:spPr>
        <p:txBody>
          <a:bodyPr wrap="square" lIns="0" tIns="0" rIns="0" bIns="0" rtlCol="0" anchor="ctr"/>
          <a:lstStyle/>
          <a:p>
            <a:pPr indent="0" marL="0">
              <a:buNone/>
            </a:pPr>
            <a:r>
              <a:rPr lang="en-US" sz="1150" b="1" spc="150" kern="0" dirty="0">
                <a:solidFill>
                  <a:srgbClr val="0E7490"/>
                </a:solidFill>
                <a:latin typeface="Calibri" pitchFamily="34" charset="0"/>
                <a:ea typeface="Calibri" pitchFamily="34" charset="-122"/>
                <a:cs typeface="Calibri" pitchFamily="34" charset="-120"/>
              </a:rPr>
              <a:t>LIVE</a:t>
            </a:r>
            <a:endParaRPr lang="en-US" sz="1150" dirty="0"/>
          </a:p>
        </p:txBody>
      </p:sp>
      <p:sp>
        <p:nvSpPr>
          <p:cNvPr id="6" name="Text 4"/>
          <p:cNvSpPr/>
          <p:nvPr/>
        </p:nvSpPr>
        <p:spPr>
          <a:xfrm>
            <a:off x="841248" y="2139696"/>
            <a:ext cx="5257800" cy="2395728"/>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E293B"/>
                </a:solidFill>
                <a:latin typeface="Calibri" pitchFamily="34" charset="0"/>
                <a:ea typeface="Calibri" pitchFamily="34" charset="-122"/>
                <a:cs typeface="Calibri" pitchFamily="34" charset="-120"/>
              </a:rPr>
              <a:t>Video training + per-lesson progress</a:t>
            </a:r>
            <a:endParaRPr lang="en-US" sz="1250" dirty="0"/>
          </a:p>
          <a:p>
            <a:pPr marL="177800" indent="-177800">
              <a:spcAft>
                <a:spcPts val="700"/>
              </a:spcAft>
              <a:buSzPct val="100000"/>
              <a:buChar char="•"/>
            </a:pPr>
            <a:r>
              <a:rPr lang="en-US" sz="1250" dirty="0">
                <a:solidFill>
                  <a:srgbClr val="1E293B"/>
                </a:solidFill>
                <a:latin typeface="Calibri" pitchFamily="34" charset="0"/>
                <a:ea typeface="Calibri" pitchFamily="34" charset="-122"/>
                <a:cs typeface="Calibri" pitchFamily="34" charset="-120"/>
              </a:rPr>
              <a:t>Server-side graded exams</a:t>
            </a:r>
            <a:endParaRPr lang="en-US" sz="1250" dirty="0"/>
          </a:p>
          <a:p>
            <a:pPr marL="177800" indent="-177800">
              <a:spcAft>
                <a:spcPts val="700"/>
              </a:spcAft>
              <a:buSzPct val="100000"/>
              <a:buChar char="•"/>
            </a:pPr>
            <a:r>
              <a:rPr lang="en-US" sz="1250" dirty="0">
                <a:solidFill>
                  <a:srgbClr val="1E293B"/>
                </a:solidFill>
                <a:latin typeface="Calibri" pitchFamily="34" charset="0"/>
                <a:ea typeface="Calibri" pitchFamily="34" charset="-122"/>
                <a:cs typeface="Calibri" pitchFamily="34" charset="-120"/>
              </a:rPr>
              <a:t>Hackathon: teams, PDF, weighted jury, live leaderboard, timed reveal</a:t>
            </a:r>
            <a:endParaRPr lang="en-US" sz="1250" dirty="0"/>
          </a:p>
          <a:p>
            <a:pPr marL="177800" indent="-177800">
              <a:spcAft>
                <a:spcPts val="700"/>
              </a:spcAft>
              <a:buSzPct val="100000"/>
              <a:buChar char="•"/>
            </a:pPr>
            <a:r>
              <a:rPr lang="en-US" sz="1250" dirty="0">
                <a:solidFill>
                  <a:srgbClr val="1E293B"/>
                </a:solidFill>
                <a:latin typeface="Calibri" pitchFamily="34" charset="0"/>
                <a:ea typeface="Calibri" pitchFamily="34" charset="-122"/>
                <a:cs typeface="Calibri" pitchFamily="34" charset="-120"/>
              </a:rPr>
              <a:t>QR onboarding + atomic seat licensing</a:t>
            </a:r>
            <a:endParaRPr lang="en-US" sz="1250" dirty="0"/>
          </a:p>
          <a:p>
            <a:pPr marL="177800" indent="-177800">
              <a:spcAft>
                <a:spcPts val="700"/>
              </a:spcAft>
              <a:buSzPct val="100000"/>
              <a:buChar char="•"/>
            </a:pPr>
            <a:r>
              <a:rPr lang="en-US" sz="1250" dirty="0">
                <a:solidFill>
                  <a:srgbClr val="1E293B"/>
                </a:solidFill>
                <a:latin typeface="Calibri" pitchFamily="34" charset="0"/>
                <a:ea typeface="Calibri" pitchFamily="34" charset="-122"/>
                <a:cs typeface="Calibri" pitchFamily="34" charset="-120"/>
              </a:rPr>
              <a:t>Gamification: coins, badges, leaderboards</a:t>
            </a:r>
            <a:endParaRPr lang="en-US" sz="1250" dirty="0"/>
          </a:p>
          <a:p>
            <a:pPr marL="177800" indent="-177800">
              <a:spcAft>
                <a:spcPts val="700"/>
              </a:spcAft>
              <a:buSzPct val="100000"/>
              <a:buChar char="•"/>
            </a:pPr>
            <a:r>
              <a:rPr lang="en-US" sz="1250" dirty="0">
                <a:solidFill>
                  <a:srgbClr val="1E293B"/>
                </a:solidFill>
                <a:latin typeface="Calibri" pitchFamily="34" charset="0"/>
                <a:ea typeface="Calibri" pitchFamily="34" charset="-122"/>
                <a:cs typeface="Calibri" pitchFamily="34" charset="-120"/>
              </a:rPr>
              <a:t>Certificates, audit log, 2FA, email notifications</a:t>
            </a:r>
            <a:endParaRPr lang="en-US" sz="1250" dirty="0"/>
          </a:p>
        </p:txBody>
      </p:sp>
      <p:sp>
        <p:nvSpPr>
          <p:cNvPr id="7" name="Shape 5"/>
          <p:cNvSpPr/>
          <p:nvPr/>
        </p:nvSpPr>
        <p:spPr>
          <a:xfrm>
            <a:off x="6720840" y="1627632"/>
            <a:ext cx="4901184" cy="2523744"/>
          </a:xfrm>
          <a:prstGeom prst="roundRect">
            <a:avLst>
              <a:gd name="adj" fmla="val 2174"/>
            </a:avLst>
          </a:prstGeom>
          <a:solidFill>
            <a:srgbClr val="FFFFFF"/>
          </a:solidFill>
          <a:ln w="9525">
            <a:solidFill>
              <a:srgbClr val="E2E8F0"/>
            </a:solidFill>
            <a:prstDash val="solid"/>
          </a:ln>
        </p:spPr>
      </p:sp>
      <p:sp>
        <p:nvSpPr>
          <p:cNvPr id="8" name="Text 6"/>
          <p:cNvSpPr/>
          <p:nvPr/>
        </p:nvSpPr>
        <p:spPr>
          <a:xfrm>
            <a:off x="6995160" y="1792224"/>
            <a:ext cx="3840480" cy="274320"/>
          </a:xfrm>
          <a:prstGeom prst="rect">
            <a:avLst/>
          </a:prstGeom>
          <a:noFill/>
          <a:ln/>
        </p:spPr>
        <p:txBody>
          <a:bodyPr wrap="square" lIns="0" tIns="0" rIns="0" bIns="0" rtlCol="0" anchor="ctr"/>
          <a:lstStyle/>
          <a:p>
            <a:pPr indent="0" marL="0">
              <a:buNone/>
            </a:pPr>
            <a:r>
              <a:rPr lang="en-US" sz="1150" b="1" spc="150" kern="0" dirty="0">
                <a:solidFill>
                  <a:srgbClr val="F59E0B"/>
                </a:solidFill>
                <a:latin typeface="Calibri" pitchFamily="34" charset="0"/>
                <a:ea typeface="Calibri" pitchFamily="34" charset="-122"/>
                <a:cs typeface="Calibri" pitchFamily="34" charset="-120"/>
              </a:rPr>
              <a:t>FUNDED BY THIS ROUND</a:t>
            </a:r>
            <a:endParaRPr lang="en-US" sz="1150" dirty="0"/>
          </a:p>
        </p:txBody>
      </p:sp>
      <p:sp>
        <p:nvSpPr>
          <p:cNvPr id="9" name="Text 7"/>
          <p:cNvSpPr/>
          <p:nvPr/>
        </p:nvSpPr>
        <p:spPr>
          <a:xfrm>
            <a:off x="6995160" y="2139696"/>
            <a:ext cx="4352544" cy="2395728"/>
          </a:xfrm>
          <a:prstGeom prst="rect">
            <a:avLst/>
          </a:prstGeom>
          <a:noFill/>
          <a:ln/>
        </p:spPr>
        <p:txBody>
          <a:bodyPr wrap="square" lIns="0" tIns="0" rIns="0" bIns="0" rtlCol="0" anchor="t"/>
          <a:lstStyle/>
          <a:p>
            <a:pPr marL="177800" indent="-177800">
              <a:spcAft>
                <a:spcPts val="1100"/>
              </a:spcAft>
              <a:buSzPct val="100000"/>
              <a:buChar char="•"/>
            </a:pPr>
            <a:r>
              <a:rPr lang="en-US" sz="1250" dirty="0">
                <a:solidFill>
                  <a:srgbClr val="1E293B"/>
                </a:solidFill>
                <a:latin typeface="Calibri" pitchFamily="34" charset="0"/>
                <a:ea typeface="Calibri" pitchFamily="34" charset="-122"/>
                <a:cs typeface="Calibri" pitchFamily="34" charset="-120"/>
              </a:rPr>
              <a:t>Simulation gameplay UI  ·  Q1 27</a:t>
            </a:r>
            <a:endParaRPr lang="en-US" sz="1250" dirty="0"/>
          </a:p>
          <a:p>
            <a:pPr marL="177800" indent="-177800">
              <a:spcAft>
                <a:spcPts val="1100"/>
              </a:spcAft>
              <a:buSzPct val="100000"/>
              <a:buChar char="•"/>
            </a:pPr>
            <a:r>
              <a:rPr lang="en-US" sz="1250" dirty="0">
                <a:solidFill>
                  <a:srgbClr val="1E293B"/>
                </a:solidFill>
                <a:latin typeface="Calibri" pitchFamily="34" charset="0"/>
                <a:ea typeface="Calibri" pitchFamily="34" charset="-122"/>
                <a:cs typeface="Calibri" pitchFamily="34" charset="-120"/>
              </a:rPr>
              <a:t>AI tool pack — mentor, pitch coach, jury assistant  ·  Q2 27</a:t>
            </a:r>
            <a:endParaRPr lang="en-US" sz="1250" dirty="0"/>
          </a:p>
          <a:p>
            <a:pPr marL="177800" indent="-177800">
              <a:spcAft>
                <a:spcPts val="1100"/>
              </a:spcAft>
              <a:buSzPct val="100000"/>
              <a:buChar char="•"/>
            </a:pPr>
            <a:r>
              <a:rPr lang="en-US" sz="1250" dirty="0">
                <a:solidFill>
                  <a:srgbClr val="1E293B"/>
                </a:solidFill>
                <a:latin typeface="Calibri" pitchFamily="34" charset="0"/>
                <a:ea typeface="Calibri" pitchFamily="34" charset="-122"/>
                <a:cs typeface="Calibri" pitchFamily="34" charset="-120"/>
              </a:rPr>
              <a:t>PDF certificate pipeline  ·  Q2 27</a:t>
            </a:r>
            <a:endParaRPr lang="en-US" sz="1250" dirty="0"/>
          </a:p>
          <a:p>
            <a:pPr marL="177800" indent="-177800">
              <a:spcAft>
                <a:spcPts val="1100"/>
              </a:spcAft>
              <a:buSzPct val="100000"/>
              <a:buChar char="•"/>
            </a:pPr>
            <a:r>
              <a:rPr lang="en-US" sz="1250" dirty="0">
                <a:solidFill>
                  <a:srgbClr val="1E293B"/>
                </a:solidFill>
                <a:latin typeface="Calibri" pitchFamily="34" charset="0"/>
                <a:ea typeface="Calibri" pitchFamily="34" charset="-122"/>
                <a:cs typeface="Calibri" pitchFamily="34" charset="-120"/>
              </a:rPr>
              <a:t>Live deployment, WAF, live payments  ·  Q4 26</a:t>
            </a:r>
            <a:endParaRPr lang="en-US" sz="1250" dirty="0"/>
          </a:p>
        </p:txBody>
      </p:sp>
      <p:sp>
        <p:nvSpPr>
          <p:cNvPr id="10" name="Text 8"/>
          <p:cNvSpPr/>
          <p:nvPr/>
        </p:nvSpPr>
        <p:spPr>
          <a:xfrm>
            <a:off x="566928" y="4590288"/>
            <a:ext cx="2103120" cy="45720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29</a:t>
            </a:r>
            <a:endParaRPr lang="en-US" sz="3000" dirty="0"/>
          </a:p>
        </p:txBody>
      </p:sp>
      <p:sp>
        <p:nvSpPr>
          <p:cNvPr id="11" name="Text 9"/>
          <p:cNvSpPr/>
          <p:nvPr/>
        </p:nvSpPr>
        <p:spPr>
          <a:xfrm>
            <a:off x="566928" y="5047488"/>
            <a:ext cx="2103120" cy="310896"/>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data models</a:t>
            </a:r>
            <a:endParaRPr lang="en-US" sz="1100" dirty="0"/>
          </a:p>
        </p:txBody>
      </p:sp>
      <p:sp>
        <p:nvSpPr>
          <p:cNvPr id="12" name="Text 10"/>
          <p:cNvSpPr/>
          <p:nvPr/>
        </p:nvSpPr>
        <p:spPr>
          <a:xfrm>
            <a:off x="2798064" y="4590288"/>
            <a:ext cx="2103120" cy="45720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40</a:t>
            </a:r>
            <a:endParaRPr lang="en-US" sz="3000" dirty="0"/>
          </a:p>
        </p:txBody>
      </p:sp>
      <p:sp>
        <p:nvSpPr>
          <p:cNvPr id="13" name="Text 11"/>
          <p:cNvSpPr/>
          <p:nvPr/>
        </p:nvSpPr>
        <p:spPr>
          <a:xfrm>
            <a:off x="2798064" y="5047488"/>
            <a:ext cx="2103120" cy="310896"/>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API routes</a:t>
            </a:r>
            <a:endParaRPr lang="en-US" sz="1100" dirty="0"/>
          </a:p>
        </p:txBody>
      </p:sp>
      <p:sp>
        <p:nvSpPr>
          <p:cNvPr id="14" name="Text 12"/>
          <p:cNvSpPr/>
          <p:nvPr/>
        </p:nvSpPr>
        <p:spPr>
          <a:xfrm>
            <a:off x="5029200" y="4590288"/>
            <a:ext cx="2103120" cy="45720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126</a:t>
            </a:r>
            <a:endParaRPr lang="en-US" sz="3000" dirty="0"/>
          </a:p>
        </p:txBody>
      </p:sp>
      <p:sp>
        <p:nvSpPr>
          <p:cNvPr id="15" name="Text 13"/>
          <p:cNvSpPr/>
          <p:nvPr/>
        </p:nvSpPr>
        <p:spPr>
          <a:xfrm>
            <a:off x="5029200" y="5047488"/>
            <a:ext cx="2103120" cy="310896"/>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tests, ~90% core</a:t>
            </a:r>
            <a:endParaRPr lang="en-US" sz="1100" dirty="0"/>
          </a:p>
        </p:txBody>
      </p:sp>
      <p:sp>
        <p:nvSpPr>
          <p:cNvPr id="16" name="Text 14"/>
          <p:cNvSpPr/>
          <p:nvPr/>
        </p:nvSpPr>
        <p:spPr>
          <a:xfrm>
            <a:off x="7260336" y="4590288"/>
            <a:ext cx="2103120" cy="45720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3</a:t>
            </a:r>
            <a:endParaRPr lang="en-US" sz="3000" dirty="0"/>
          </a:p>
        </p:txBody>
      </p:sp>
      <p:sp>
        <p:nvSpPr>
          <p:cNvPr id="17" name="Text 15"/>
          <p:cNvSpPr/>
          <p:nvPr/>
        </p:nvSpPr>
        <p:spPr>
          <a:xfrm>
            <a:off x="7260336" y="5047488"/>
            <a:ext cx="2103120" cy="310896"/>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languages EN/TR/AZ</a:t>
            </a:r>
            <a:endParaRPr lang="en-US" sz="1100" dirty="0"/>
          </a:p>
        </p:txBody>
      </p:sp>
      <p:sp>
        <p:nvSpPr>
          <p:cNvPr id="18" name="Text 16"/>
          <p:cNvSpPr/>
          <p:nvPr/>
        </p:nvSpPr>
        <p:spPr>
          <a:xfrm>
            <a:off x="9491472" y="4590288"/>
            <a:ext cx="2103120" cy="45720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5</a:t>
            </a:r>
            <a:endParaRPr lang="en-US" sz="3000" dirty="0"/>
          </a:p>
        </p:txBody>
      </p:sp>
      <p:sp>
        <p:nvSpPr>
          <p:cNvPr id="19" name="Text 17"/>
          <p:cNvSpPr/>
          <p:nvPr/>
        </p:nvSpPr>
        <p:spPr>
          <a:xfrm>
            <a:off x="9491472" y="5047488"/>
            <a:ext cx="2103120" cy="310896"/>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RBAC roles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200" kern="0" dirty="0">
                <a:solidFill>
                  <a:srgbClr val="0E7490"/>
                </a:solidFill>
                <a:latin typeface="Calibri" pitchFamily="34" charset="0"/>
                <a:ea typeface="Calibri" pitchFamily="34" charset="-122"/>
                <a:cs typeface="Calibri" pitchFamily="34" charset="-120"/>
              </a:rPr>
              <a:t>MARKET</a:t>
            </a:r>
            <a:endParaRPr lang="en-US" sz="1100" dirty="0"/>
          </a:p>
        </p:txBody>
      </p:sp>
      <p:sp>
        <p:nvSpPr>
          <p:cNvPr id="3" name="Text 1"/>
          <p:cNvSpPr/>
          <p:nvPr/>
        </p:nvSpPr>
        <p:spPr>
          <a:xfrm>
            <a:off x="566928" y="658368"/>
            <a:ext cx="11055096" cy="777240"/>
          </a:xfrm>
          <a:prstGeom prst="rect">
            <a:avLst/>
          </a:prstGeom>
          <a:noFill/>
          <a:ln/>
        </p:spPr>
        <p:txBody>
          <a:bodyPr wrap="square" lIns="0" tIns="0" rIns="0" bIns="0" rtlCol="0" anchor="ctr"/>
          <a:lstStyle/>
          <a:p>
            <a:pPr indent="0" marL="0">
              <a:buNone/>
            </a:pPr>
            <a:r>
              <a:rPr lang="en-US" sz="3800" b="1" dirty="0">
                <a:solidFill>
                  <a:srgbClr val="0F172A"/>
                </a:solidFill>
                <a:latin typeface="Cambria" pitchFamily="34" charset="0"/>
                <a:ea typeface="Cambria" pitchFamily="34" charset="-122"/>
                <a:cs typeface="Cambria" pitchFamily="34" charset="-120"/>
              </a:rPr>
              <a:t>A $1.4B seat market. We need 2% of our slice.</a:t>
            </a:r>
            <a:endParaRPr lang="en-US" sz="3800" dirty="0"/>
          </a:p>
        </p:txBody>
      </p:sp>
      <p:sp>
        <p:nvSpPr>
          <p:cNvPr id="4" name="Shape 2"/>
          <p:cNvSpPr/>
          <p:nvPr/>
        </p:nvSpPr>
        <p:spPr>
          <a:xfrm>
            <a:off x="566928" y="1700784"/>
            <a:ext cx="3493008" cy="2304288"/>
          </a:xfrm>
          <a:prstGeom prst="roundRect">
            <a:avLst>
              <a:gd name="adj" fmla="val 2381"/>
            </a:avLst>
          </a:prstGeom>
          <a:solidFill>
            <a:srgbClr val="F1F5F9"/>
          </a:solidFill>
          <a:ln w="9525">
            <a:solidFill>
              <a:srgbClr val="E2E8F0"/>
            </a:solidFill>
            <a:prstDash val="solid"/>
          </a:ln>
        </p:spPr>
      </p:sp>
      <p:sp>
        <p:nvSpPr>
          <p:cNvPr id="5" name="Text 3"/>
          <p:cNvSpPr/>
          <p:nvPr/>
        </p:nvSpPr>
        <p:spPr>
          <a:xfrm>
            <a:off x="822960" y="1865376"/>
            <a:ext cx="1828800" cy="274320"/>
          </a:xfrm>
          <a:prstGeom prst="rect">
            <a:avLst/>
          </a:prstGeom>
          <a:noFill/>
          <a:ln/>
        </p:spPr>
        <p:txBody>
          <a:bodyPr wrap="square" lIns="0" tIns="0" rIns="0" bIns="0" rtlCol="0" anchor="ctr"/>
          <a:lstStyle/>
          <a:p>
            <a:pPr indent="0" marL="0">
              <a:buNone/>
            </a:pPr>
            <a:r>
              <a:rPr lang="en-US" sz="1150" b="1" spc="150" kern="0" dirty="0">
                <a:solidFill>
                  <a:srgbClr val="64748B"/>
                </a:solidFill>
                <a:latin typeface="Calibri" pitchFamily="34" charset="0"/>
                <a:ea typeface="Calibri" pitchFamily="34" charset="-122"/>
                <a:cs typeface="Calibri" pitchFamily="34" charset="-120"/>
              </a:rPr>
              <a:t>TAM</a:t>
            </a:r>
            <a:endParaRPr lang="en-US" sz="1150" dirty="0"/>
          </a:p>
        </p:txBody>
      </p:sp>
      <p:sp>
        <p:nvSpPr>
          <p:cNvPr id="6" name="Text 4"/>
          <p:cNvSpPr/>
          <p:nvPr/>
        </p:nvSpPr>
        <p:spPr>
          <a:xfrm>
            <a:off x="822960" y="2139696"/>
            <a:ext cx="3017520" cy="658368"/>
          </a:xfrm>
          <a:prstGeom prst="rect">
            <a:avLst/>
          </a:prstGeom>
          <a:noFill/>
          <a:ln/>
        </p:spPr>
        <p:txBody>
          <a:bodyPr wrap="square" lIns="0" tIns="0" rIns="0" bIns="0" rtlCol="0" anchor="ctr"/>
          <a:lstStyle/>
          <a:p>
            <a:pPr indent="0" marL="0">
              <a:buNone/>
            </a:pPr>
            <a:r>
              <a:rPr lang="en-US" sz="4000" b="1" dirty="0">
                <a:solidFill>
                  <a:srgbClr val="0F172A"/>
                </a:solidFill>
                <a:latin typeface="Cambria" pitchFamily="34" charset="0"/>
                <a:ea typeface="Cambria" pitchFamily="34" charset="-122"/>
                <a:cs typeface="Cambria" pitchFamily="34" charset="-120"/>
              </a:rPr>
              <a:t>$1.4B</a:t>
            </a:r>
            <a:endParaRPr lang="en-US" sz="4000" dirty="0"/>
          </a:p>
        </p:txBody>
      </p:sp>
      <p:sp>
        <p:nvSpPr>
          <p:cNvPr id="7" name="Text 5"/>
          <p:cNvSpPr/>
          <p:nvPr/>
        </p:nvSpPr>
        <p:spPr>
          <a:xfrm>
            <a:off x="822960" y="2852928"/>
            <a:ext cx="2980944" cy="1042416"/>
          </a:xfrm>
          <a:prstGeom prst="rect">
            <a:avLst/>
          </a:prstGeom>
          <a:noFill/>
          <a:ln/>
        </p:spPr>
        <p:txBody>
          <a:bodyPr wrap="square" lIns="0" tIns="0" rIns="0" bIns="0" rtlCol="0" anchor="t"/>
          <a:lstStyle/>
          <a:p>
            <a:pPr indent="0" marL="0">
              <a:lnSpc>
                <a:spcPts val="1400"/>
              </a:lnSpc>
              <a:buNone/>
            </a:pPr>
            <a:r>
              <a:rPr lang="en-US" sz="1100" dirty="0">
                <a:solidFill>
                  <a:srgbClr val="1E293B"/>
                </a:solidFill>
                <a:latin typeface="Calibri" pitchFamily="34" charset="0"/>
                <a:ea typeface="Calibri" pitchFamily="34" charset="-122"/>
                <a:cs typeface="Calibri" pitchFamily="34" charset="-120"/>
              </a:rPr>
              <a:t>264M tertiary students worldwide; ~53M in business &amp; entrepreneurship programs × $25/seat, plus institution platform fees.</a:t>
            </a:r>
            <a:endParaRPr lang="en-US" sz="1100" dirty="0"/>
          </a:p>
        </p:txBody>
      </p:sp>
      <p:sp>
        <p:nvSpPr>
          <p:cNvPr id="8" name="Shape 6"/>
          <p:cNvSpPr/>
          <p:nvPr/>
        </p:nvSpPr>
        <p:spPr>
          <a:xfrm>
            <a:off x="4279392" y="1700784"/>
            <a:ext cx="3493008" cy="2304288"/>
          </a:xfrm>
          <a:prstGeom prst="roundRect">
            <a:avLst>
              <a:gd name="adj" fmla="val 2381"/>
            </a:avLst>
          </a:prstGeom>
          <a:solidFill>
            <a:srgbClr val="F1F5F9"/>
          </a:solidFill>
          <a:ln w="9525">
            <a:solidFill>
              <a:srgbClr val="E2E8F0"/>
            </a:solidFill>
            <a:prstDash val="solid"/>
          </a:ln>
        </p:spPr>
      </p:sp>
      <p:sp>
        <p:nvSpPr>
          <p:cNvPr id="9" name="Text 7"/>
          <p:cNvSpPr/>
          <p:nvPr/>
        </p:nvSpPr>
        <p:spPr>
          <a:xfrm>
            <a:off x="4535424" y="1865376"/>
            <a:ext cx="1828800" cy="274320"/>
          </a:xfrm>
          <a:prstGeom prst="rect">
            <a:avLst/>
          </a:prstGeom>
          <a:noFill/>
          <a:ln/>
        </p:spPr>
        <p:txBody>
          <a:bodyPr wrap="square" lIns="0" tIns="0" rIns="0" bIns="0" rtlCol="0" anchor="ctr"/>
          <a:lstStyle/>
          <a:p>
            <a:pPr indent="0" marL="0">
              <a:buNone/>
            </a:pPr>
            <a:r>
              <a:rPr lang="en-US" sz="1150" b="1" spc="150" kern="0" dirty="0">
                <a:solidFill>
                  <a:srgbClr val="64748B"/>
                </a:solidFill>
                <a:latin typeface="Calibri" pitchFamily="34" charset="0"/>
                <a:ea typeface="Calibri" pitchFamily="34" charset="-122"/>
                <a:cs typeface="Calibri" pitchFamily="34" charset="-120"/>
              </a:rPr>
              <a:t>SAM</a:t>
            </a:r>
            <a:endParaRPr lang="en-US" sz="1150" dirty="0"/>
          </a:p>
        </p:txBody>
      </p:sp>
      <p:sp>
        <p:nvSpPr>
          <p:cNvPr id="10" name="Text 8"/>
          <p:cNvSpPr/>
          <p:nvPr/>
        </p:nvSpPr>
        <p:spPr>
          <a:xfrm>
            <a:off x="4535424" y="2139696"/>
            <a:ext cx="3017520" cy="658368"/>
          </a:xfrm>
          <a:prstGeom prst="rect">
            <a:avLst/>
          </a:prstGeom>
          <a:noFill/>
          <a:ln/>
        </p:spPr>
        <p:txBody>
          <a:bodyPr wrap="square" lIns="0" tIns="0" rIns="0" bIns="0" rtlCol="0" anchor="ctr"/>
          <a:lstStyle/>
          <a:p>
            <a:pPr indent="0" marL="0">
              <a:buNone/>
            </a:pPr>
            <a:r>
              <a:rPr lang="en-US" sz="4000" b="1" dirty="0">
                <a:solidFill>
                  <a:srgbClr val="0E7490"/>
                </a:solidFill>
                <a:latin typeface="Cambria" pitchFamily="34" charset="0"/>
                <a:ea typeface="Cambria" pitchFamily="34" charset="-122"/>
                <a:cs typeface="Cambria" pitchFamily="34" charset="-120"/>
              </a:rPr>
              <a:t>$240M</a:t>
            </a:r>
            <a:endParaRPr lang="en-US" sz="4000" dirty="0"/>
          </a:p>
        </p:txBody>
      </p:sp>
      <p:sp>
        <p:nvSpPr>
          <p:cNvPr id="11" name="Text 9"/>
          <p:cNvSpPr/>
          <p:nvPr/>
        </p:nvSpPr>
        <p:spPr>
          <a:xfrm>
            <a:off x="4535424" y="2852928"/>
            <a:ext cx="2980944" cy="1042416"/>
          </a:xfrm>
          <a:prstGeom prst="rect">
            <a:avLst/>
          </a:prstGeom>
          <a:noFill/>
          <a:ln/>
        </p:spPr>
        <p:txBody>
          <a:bodyPr wrap="square" lIns="0" tIns="0" rIns="0" bIns="0" rtlCol="0" anchor="t"/>
          <a:lstStyle/>
          <a:p>
            <a:pPr indent="0" marL="0">
              <a:lnSpc>
                <a:spcPts val="1400"/>
              </a:lnSpc>
              <a:buNone/>
            </a:pPr>
            <a:r>
              <a:rPr lang="en-US" sz="1100" dirty="0">
                <a:solidFill>
                  <a:srgbClr val="1E293B"/>
                </a:solidFill>
                <a:latin typeface="Calibri" pitchFamily="34" charset="0"/>
                <a:ea typeface="Calibri" pitchFamily="34" charset="-122"/>
                <a:cs typeface="Calibri" pitchFamily="34" charset="-120"/>
              </a:rPr>
              <a:t>EU, UK, Turkey, Caucasus, Central Asia, Gulf — ~4,200 HEIs and ~700 parks, incubators and agencies. EN/TR/AZ already ships.</a:t>
            </a:r>
            <a:endParaRPr lang="en-US" sz="1100" dirty="0"/>
          </a:p>
        </p:txBody>
      </p:sp>
      <p:sp>
        <p:nvSpPr>
          <p:cNvPr id="12" name="Shape 10"/>
          <p:cNvSpPr/>
          <p:nvPr/>
        </p:nvSpPr>
        <p:spPr>
          <a:xfrm>
            <a:off x="7991856" y="1700784"/>
            <a:ext cx="3493008" cy="2304288"/>
          </a:xfrm>
          <a:prstGeom prst="roundRect">
            <a:avLst>
              <a:gd name="adj" fmla="val 2381"/>
            </a:avLst>
          </a:prstGeom>
          <a:solidFill>
            <a:srgbClr val="0F172A"/>
          </a:solidFill>
          <a:ln w="9525">
            <a:solidFill>
              <a:srgbClr val="E2E8F0"/>
            </a:solidFill>
            <a:prstDash val="solid"/>
          </a:ln>
        </p:spPr>
      </p:sp>
      <p:sp>
        <p:nvSpPr>
          <p:cNvPr id="13" name="Text 11"/>
          <p:cNvSpPr/>
          <p:nvPr/>
        </p:nvSpPr>
        <p:spPr>
          <a:xfrm>
            <a:off x="8247888" y="1865376"/>
            <a:ext cx="1828800" cy="274320"/>
          </a:xfrm>
          <a:prstGeom prst="rect">
            <a:avLst/>
          </a:prstGeom>
          <a:noFill/>
          <a:ln/>
        </p:spPr>
        <p:txBody>
          <a:bodyPr wrap="square" lIns="0" tIns="0" rIns="0" bIns="0" rtlCol="0" anchor="ctr"/>
          <a:lstStyle/>
          <a:p>
            <a:pPr indent="0" marL="0">
              <a:buNone/>
            </a:pPr>
            <a:r>
              <a:rPr lang="en-US" sz="1150" b="1" spc="150" kern="0" dirty="0">
                <a:solidFill>
                  <a:srgbClr val="F59E0B"/>
                </a:solidFill>
                <a:latin typeface="Calibri" pitchFamily="34" charset="0"/>
                <a:ea typeface="Calibri" pitchFamily="34" charset="-122"/>
                <a:cs typeface="Calibri" pitchFamily="34" charset="-120"/>
              </a:rPr>
              <a:t>SOM</a:t>
            </a:r>
            <a:endParaRPr lang="en-US" sz="1150" dirty="0"/>
          </a:p>
        </p:txBody>
      </p:sp>
      <p:sp>
        <p:nvSpPr>
          <p:cNvPr id="14" name="Text 12"/>
          <p:cNvSpPr/>
          <p:nvPr/>
        </p:nvSpPr>
        <p:spPr>
          <a:xfrm>
            <a:off x="8247888" y="2139696"/>
            <a:ext cx="3017520" cy="658368"/>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$5.3M</a:t>
            </a:r>
            <a:endParaRPr lang="en-US" sz="4000" dirty="0"/>
          </a:p>
        </p:txBody>
      </p:sp>
      <p:sp>
        <p:nvSpPr>
          <p:cNvPr id="15" name="Text 13"/>
          <p:cNvSpPr/>
          <p:nvPr/>
        </p:nvSpPr>
        <p:spPr>
          <a:xfrm>
            <a:off x="8247888" y="2852928"/>
            <a:ext cx="2980944" cy="1042416"/>
          </a:xfrm>
          <a:prstGeom prst="rect">
            <a:avLst/>
          </a:prstGeom>
          <a:noFill/>
          <a:ln/>
        </p:spPr>
        <p:txBody>
          <a:bodyPr wrap="square" lIns="0" tIns="0" rIns="0" bIns="0" rtlCol="0" anchor="t"/>
          <a:lstStyle/>
          <a:p>
            <a:pPr indent="0" marL="0">
              <a:lnSpc>
                <a:spcPts val="1400"/>
              </a:lnSpc>
              <a:buNone/>
            </a:pPr>
            <a:r>
              <a:rPr lang="en-US" sz="1100" dirty="0">
                <a:solidFill>
                  <a:srgbClr val="CBD5E1"/>
                </a:solidFill>
                <a:latin typeface="Calibri" pitchFamily="34" charset="0"/>
                <a:ea typeface="Calibri" pitchFamily="34" charset="-122"/>
                <a:cs typeface="Calibri" pitchFamily="34" charset="-120"/>
              </a:rPr>
              <a:t>374 institutions by 2030 at $14.1K blended ACV = 2.2% of SAM.</a:t>
            </a:r>
            <a:endParaRPr lang="en-US" sz="1100" dirty="0"/>
          </a:p>
        </p:txBody>
      </p:sp>
      <p:sp>
        <p:nvSpPr>
          <p:cNvPr id="16" name="Text 14"/>
          <p:cNvSpPr/>
          <p:nvPr/>
        </p:nvSpPr>
        <p:spPr>
          <a:xfrm>
            <a:off x="566928" y="4261104"/>
            <a:ext cx="6400800" cy="329184"/>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Beachhead — funded, dense, two hours from Baku</a:t>
            </a:r>
            <a:endParaRPr lang="en-US" sz="1500" dirty="0"/>
          </a:p>
        </p:txBody>
      </p:sp>
      <p:sp>
        <p:nvSpPr>
          <p:cNvPr id="17" name="Text 15"/>
          <p:cNvSpPr/>
          <p:nvPr/>
        </p:nvSpPr>
        <p:spPr>
          <a:xfrm>
            <a:off x="566928" y="4681728"/>
            <a:ext cx="2651760" cy="457200"/>
          </a:xfrm>
          <a:prstGeom prst="rect">
            <a:avLst/>
          </a:prstGeom>
          <a:noFill/>
          <a:ln/>
        </p:spPr>
        <p:txBody>
          <a:bodyPr wrap="square" lIns="0" tIns="0" rIns="0" bIns="0" rtlCol="0" anchor="ctr"/>
          <a:lstStyle/>
          <a:p>
            <a:pPr indent="0" marL="0">
              <a:buNone/>
            </a:pPr>
            <a:r>
              <a:rPr lang="en-US" sz="2800" b="1" dirty="0">
                <a:solidFill>
                  <a:srgbClr val="0E7490"/>
                </a:solidFill>
                <a:latin typeface="Cambria" pitchFamily="34" charset="0"/>
                <a:ea typeface="Cambria" pitchFamily="34" charset="-122"/>
                <a:cs typeface="Cambria" pitchFamily="34" charset="-120"/>
              </a:rPr>
              <a:t>113</a:t>
            </a:r>
            <a:endParaRPr lang="en-US" sz="2800" dirty="0"/>
          </a:p>
        </p:txBody>
      </p:sp>
      <p:sp>
        <p:nvSpPr>
          <p:cNvPr id="18" name="Text 16"/>
          <p:cNvSpPr/>
          <p:nvPr/>
        </p:nvSpPr>
        <p:spPr>
          <a:xfrm>
            <a:off x="566928" y="5138928"/>
            <a:ext cx="2651760" cy="310896"/>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technoparks in Turkey</a:t>
            </a:r>
            <a:endParaRPr lang="en-US" sz="1150" dirty="0"/>
          </a:p>
        </p:txBody>
      </p:sp>
      <p:sp>
        <p:nvSpPr>
          <p:cNvPr id="19" name="Text 17"/>
          <p:cNvSpPr/>
          <p:nvPr/>
        </p:nvSpPr>
        <p:spPr>
          <a:xfrm>
            <a:off x="3355848" y="4681728"/>
            <a:ext cx="2651760" cy="457200"/>
          </a:xfrm>
          <a:prstGeom prst="rect">
            <a:avLst/>
          </a:prstGeom>
          <a:noFill/>
          <a:ln/>
        </p:spPr>
        <p:txBody>
          <a:bodyPr wrap="square" lIns="0" tIns="0" rIns="0" bIns="0" rtlCol="0" anchor="ctr"/>
          <a:lstStyle/>
          <a:p>
            <a:pPr indent="0" marL="0">
              <a:buNone/>
            </a:pPr>
            <a:r>
              <a:rPr lang="en-US" sz="2800" b="1" dirty="0">
                <a:solidFill>
                  <a:srgbClr val="0E7490"/>
                </a:solidFill>
                <a:latin typeface="Cambria" pitchFamily="34" charset="0"/>
                <a:ea typeface="Cambria" pitchFamily="34" charset="-122"/>
                <a:cs typeface="Cambria" pitchFamily="34" charset="-120"/>
              </a:rPr>
              <a:t>208</a:t>
            </a:r>
            <a:endParaRPr lang="en-US" sz="2800" dirty="0"/>
          </a:p>
        </p:txBody>
      </p:sp>
      <p:sp>
        <p:nvSpPr>
          <p:cNvPr id="20" name="Text 18"/>
          <p:cNvSpPr/>
          <p:nvPr/>
        </p:nvSpPr>
        <p:spPr>
          <a:xfrm>
            <a:off x="3355848" y="5138928"/>
            <a:ext cx="2651760" cy="310896"/>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Turkish universities</a:t>
            </a:r>
            <a:endParaRPr lang="en-US" sz="1150" dirty="0"/>
          </a:p>
        </p:txBody>
      </p:sp>
      <p:sp>
        <p:nvSpPr>
          <p:cNvPr id="21" name="Text 19"/>
          <p:cNvSpPr/>
          <p:nvPr/>
        </p:nvSpPr>
        <p:spPr>
          <a:xfrm>
            <a:off x="6144768" y="4681728"/>
            <a:ext cx="2651760" cy="457200"/>
          </a:xfrm>
          <a:prstGeom prst="rect">
            <a:avLst/>
          </a:prstGeom>
          <a:noFill/>
          <a:ln/>
        </p:spPr>
        <p:txBody>
          <a:bodyPr wrap="square" lIns="0" tIns="0" rIns="0" bIns="0" rtlCol="0" anchor="ctr"/>
          <a:lstStyle/>
          <a:p>
            <a:pPr indent="0" marL="0">
              <a:buNone/>
            </a:pPr>
            <a:r>
              <a:rPr lang="en-US" sz="2800" b="1" dirty="0">
                <a:solidFill>
                  <a:srgbClr val="0E7490"/>
                </a:solidFill>
                <a:latin typeface="Cambria" pitchFamily="34" charset="0"/>
                <a:ea typeface="Cambria" pitchFamily="34" charset="-122"/>
                <a:cs typeface="Cambria" pitchFamily="34" charset="-120"/>
              </a:rPr>
              <a:t>51</a:t>
            </a:r>
            <a:endParaRPr lang="en-US" sz="2800" dirty="0"/>
          </a:p>
        </p:txBody>
      </p:sp>
      <p:sp>
        <p:nvSpPr>
          <p:cNvPr id="22" name="Text 20"/>
          <p:cNvSpPr/>
          <p:nvPr/>
        </p:nvSpPr>
        <p:spPr>
          <a:xfrm>
            <a:off x="6144768" y="5138928"/>
            <a:ext cx="2651760" cy="310896"/>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Azerbaijani HEIs</a:t>
            </a:r>
            <a:endParaRPr lang="en-US" sz="1150" dirty="0"/>
          </a:p>
        </p:txBody>
      </p:sp>
      <p:sp>
        <p:nvSpPr>
          <p:cNvPr id="23" name="Text 21"/>
          <p:cNvSpPr/>
          <p:nvPr/>
        </p:nvSpPr>
        <p:spPr>
          <a:xfrm>
            <a:off x="8933688" y="4681728"/>
            <a:ext cx="2651760" cy="457200"/>
          </a:xfrm>
          <a:prstGeom prst="rect">
            <a:avLst/>
          </a:prstGeom>
          <a:noFill/>
          <a:ln/>
        </p:spPr>
        <p:txBody>
          <a:bodyPr wrap="square" lIns="0" tIns="0" rIns="0" bIns="0" rtlCol="0" anchor="ctr"/>
          <a:lstStyle/>
          <a:p>
            <a:pPr indent="0" marL="0">
              <a:buNone/>
            </a:pPr>
            <a:r>
              <a:rPr lang="en-US" sz="2800" b="1" dirty="0">
                <a:solidFill>
                  <a:srgbClr val="0E7490"/>
                </a:solidFill>
                <a:latin typeface="Cambria" pitchFamily="34" charset="0"/>
                <a:ea typeface="Cambria" pitchFamily="34" charset="-122"/>
                <a:cs typeface="Cambria" pitchFamily="34" charset="-120"/>
              </a:rPr>
              <a:t>€70M</a:t>
            </a:r>
            <a:endParaRPr lang="en-US" sz="2800" dirty="0"/>
          </a:p>
        </p:txBody>
      </p:sp>
      <p:sp>
        <p:nvSpPr>
          <p:cNvPr id="24" name="Text 22"/>
          <p:cNvSpPr/>
          <p:nvPr/>
        </p:nvSpPr>
        <p:spPr>
          <a:xfrm>
            <a:off x="8933688" y="5138928"/>
            <a:ext cx="2651760" cy="310896"/>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EIT HEI call, 2026–28</a:t>
            </a:r>
            <a:endParaRPr lang="en-US" sz="1150" dirty="0"/>
          </a:p>
        </p:txBody>
      </p:sp>
      <p:sp>
        <p:nvSpPr>
          <p:cNvPr id="25" name="Text 23"/>
          <p:cNvSpPr/>
          <p:nvPr/>
        </p:nvSpPr>
        <p:spPr>
          <a:xfrm>
            <a:off x="566928" y="5541264"/>
            <a:ext cx="10515600" cy="310896"/>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372 beachhead institutions × $12K = $4.5M addressable without leaving the region.</a:t>
            </a:r>
            <a:endParaRPr lang="en-US" sz="1200" dirty="0"/>
          </a:p>
        </p:txBody>
      </p:sp>
      <p:sp>
        <p:nvSpPr>
          <p:cNvPr id="26" name="Text 24"/>
          <p:cNvSpPr/>
          <p:nvPr/>
        </p:nvSpPr>
        <p:spPr>
          <a:xfrm>
            <a:off x="566928" y="6053328"/>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Sources: UNESCO 2025 · YÖK 2025-26 · ASO Apr 2026 · EIT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200" kern="0" dirty="0">
                <a:solidFill>
                  <a:srgbClr val="0E7490"/>
                </a:solidFill>
                <a:latin typeface="Calibri" pitchFamily="34" charset="0"/>
                <a:ea typeface="Calibri" pitchFamily="34" charset="-122"/>
                <a:cs typeface="Calibri" pitchFamily="34" charset="-120"/>
              </a:rPr>
              <a:t>BUSINESS MODEL</a:t>
            </a:r>
            <a:endParaRPr lang="en-US" sz="1100" dirty="0"/>
          </a:p>
        </p:txBody>
      </p:sp>
      <p:sp>
        <p:nvSpPr>
          <p:cNvPr id="3" name="Text 1"/>
          <p:cNvSpPr/>
          <p:nvPr/>
        </p:nvSpPr>
        <p:spPr>
          <a:xfrm>
            <a:off x="566928" y="658368"/>
            <a:ext cx="11055096" cy="777240"/>
          </a:xfrm>
          <a:prstGeom prst="rect">
            <a:avLst/>
          </a:prstGeom>
          <a:noFill/>
          <a:ln/>
        </p:spPr>
        <p:txBody>
          <a:bodyPr wrap="square" lIns="0" tIns="0" rIns="0" bIns="0" rtlCol="0" anchor="ctr"/>
          <a:lstStyle/>
          <a:p>
            <a:pPr indent="0" marL="0">
              <a:buNone/>
            </a:pPr>
            <a:r>
              <a:rPr lang="en-US" sz="3800" b="1" dirty="0">
                <a:solidFill>
                  <a:srgbClr val="0F172A"/>
                </a:solidFill>
                <a:latin typeface="Cambria" pitchFamily="34" charset="0"/>
                <a:ea typeface="Cambria" pitchFamily="34" charset="-122"/>
                <a:cs typeface="Cambria" pitchFamily="34" charset="-120"/>
              </a:rPr>
              <a:t>Platform fee + seats. Prepaid annually.</a:t>
            </a:r>
            <a:endParaRPr lang="en-US" sz="3800" dirty="0"/>
          </a:p>
        </p:txBody>
      </p:sp>
      <p:sp>
        <p:nvSpPr>
          <p:cNvPr id="4" name="Shape 2"/>
          <p:cNvSpPr/>
          <p:nvPr/>
        </p:nvSpPr>
        <p:spPr>
          <a:xfrm>
            <a:off x="566928" y="1664208"/>
            <a:ext cx="3493008" cy="1810512"/>
          </a:xfrm>
          <a:prstGeom prst="roundRect">
            <a:avLst>
              <a:gd name="adj" fmla="val 3030"/>
            </a:avLst>
          </a:prstGeom>
          <a:solidFill>
            <a:srgbClr val="F1F5F9"/>
          </a:solidFill>
          <a:ln w="9525">
            <a:solidFill>
              <a:srgbClr val="E2E8F0"/>
            </a:solidFill>
            <a:prstDash val="solid"/>
          </a:ln>
        </p:spPr>
      </p:sp>
      <p:sp>
        <p:nvSpPr>
          <p:cNvPr id="5" name="Text 3"/>
          <p:cNvSpPr/>
          <p:nvPr/>
        </p:nvSpPr>
        <p:spPr>
          <a:xfrm>
            <a:off x="804672" y="1810512"/>
            <a:ext cx="219456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Starter</a:t>
            </a:r>
            <a:endParaRPr lang="en-US" sz="1350" dirty="0"/>
          </a:p>
        </p:txBody>
      </p:sp>
      <p:sp>
        <p:nvSpPr>
          <p:cNvPr id="6" name="Text 4"/>
          <p:cNvSpPr/>
          <p:nvPr/>
        </p:nvSpPr>
        <p:spPr>
          <a:xfrm>
            <a:off x="804672" y="2103120"/>
            <a:ext cx="3017520" cy="54864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$5,000</a:t>
            </a:r>
            <a:endParaRPr lang="en-US" sz="3200" dirty="0"/>
          </a:p>
        </p:txBody>
      </p:sp>
      <p:sp>
        <p:nvSpPr>
          <p:cNvPr id="7" name="Text 5"/>
          <p:cNvSpPr/>
          <p:nvPr/>
        </p:nvSpPr>
        <p:spPr>
          <a:xfrm>
            <a:off x="804672" y="2670048"/>
            <a:ext cx="3017520" cy="27432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University e-ship centre</a:t>
            </a:r>
            <a:endParaRPr lang="en-US" sz="1150" dirty="0"/>
          </a:p>
        </p:txBody>
      </p:sp>
      <p:sp>
        <p:nvSpPr>
          <p:cNvPr id="8" name="Text 6"/>
          <p:cNvSpPr/>
          <p:nvPr/>
        </p:nvSpPr>
        <p:spPr>
          <a:xfrm>
            <a:off x="804672" y="2962656"/>
            <a:ext cx="3017520" cy="36576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100 seats · $2,100 platform · $29/seat</a:t>
            </a:r>
            <a:endParaRPr lang="en-US" sz="1050" dirty="0"/>
          </a:p>
        </p:txBody>
      </p:sp>
      <p:sp>
        <p:nvSpPr>
          <p:cNvPr id="9" name="Shape 7"/>
          <p:cNvSpPr/>
          <p:nvPr/>
        </p:nvSpPr>
        <p:spPr>
          <a:xfrm>
            <a:off x="4279392" y="1664208"/>
            <a:ext cx="3493008" cy="1810512"/>
          </a:xfrm>
          <a:prstGeom prst="roundRect">
            <a:avLst>
              <a:gd name="adj" fmla="val 3030"/>
            </a:avLst>
          </a:prstGeom>
          <a:solidFill>
            <a:srgbClr val="0F172A"/>
          </a:solidFill>
          <a:ln w="9525">
            <a:solidFill>
              <a:srgbClr val="E2E8F0"/>
            </a:solidFill>
            <a:prstDash val="solid"/>
          </a:ln>
        </p:spPr>
      </p:sp>
      <p:sp>
        <p:nvSpPr>
          <p:cNvPr id="10" name="Text 8"/>
          <p:cNvSpPr/>
          <p:nvPr/>
        </p:nvSpPr>
        <p:spPr>
          <a:xfrm>
            <a:off x="4517136" y="1810512"/>
            <a:ext cx="2194560" cy="292608"/>
          </a:xfrm>
          <a:prstGeom prst="rect">
            <a:avLst/>
          </a:prstGeom>
          <a:noFill/>
          <a:ln/>
        </p:spPr>
        <p:txBody>
          <a:bodyPr wrap="square" lIns="0" tIns="0" rIns="0" bIns="0" rtlCol="0" anchor="ctr"/>
          <a:lstStyle/>
          <a:p>
            <a:pPr indent="0" marL="0">
              <a:buNone/>
            </a:pPr>
            <a:r>
              <a:rPr lang="en-US" sz="1350" b="1" dirty="0">
                <a:solidFill>
                  <a:srgbClr val="F59E0B"/>
                </a:solidFill>
                <a:latin typeface="Calibri" pitchFamily="34" charset="0"/>
                <a:ea typeface="Calibri" pitchFamily="34" charset="-122"/>
                <a:cs typeface="Calibri" pitchFamily="34" charset="-120"/>
              </a:rPr>
              <a:t>Growth</a:t>
            </a:r>
            <a:endParaRPr lang="en-US" sz="1350" dirty="0"/>
          </a:p>
        </p:txBody>
      </p:sp>
      <p:sp>
        <p:nvSpPr>
          <p:cNvPr id="11" name="Text 9"/>
          <p:cNvSpPr/>
          <p:nvPr/>
        </p:nvSpPr>
        <p:spPr>
          <a:xfrm>
            <a:off x="4517136" y="2103120"/>
            <a:ext cx="301752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$12,000</a:t>
            </a:r>
            <a:endParaRPr lang="en-US" sz="3200" dirty="0"/>
          </a:p>
        </p:txBody>
      </p:sp>
      <p:sp>
        <p:nvSpPr>
          <p:cNvPr id="12" name="Text 10"/>
          <p:cNvSpPr/>
          <p:nvPr/>
        </p:nvSpPr>
        <p:spPr>
          <a:xfrm>
            <a:off x="4517136" y="2670048"/>
            <a:ext cx="3017520" cy="27432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Technopark, accelerator</a:t>
            </a:r>
            <a:endParaRPr lang="en-US" sz="1150" dirty="0"/>
          </a:p>
        </p:txBody>
      </p:sp>
      <p:sp>
        <p:nvSpPr>
          <p:cNvPr id="13" name="Text 11"/>
          <p:cNvSpPr/>
          <p:nvPr/>
        </p:nvSpPr>
        <p:spPr>
          <a:xfrm>
            <a:off x="4517136" y="2962656"/>
            <a:ext cx="3017520" cy="36576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250 seats · $5,750 platform · $25/seat</a:t>
            </a:r>
            <a:endParaRPr lang="en-US" sz="1050" dirty="0"/>
          </a:p>
        </p:txBody>
      </p:sp>
      <p:sp>
        <p:nvSpPr>
          <p:cNvPr id="14" name="Shape 12"/>
          <p:cNvSpPr/>
          <p:nvPr/>
        </p:nvSpPr>
        <p:spPr>
          <a:xfrm>
            <a:off x="7991856" y="1664208"/>
            <a:ext cx="3493008" cy="1810512"/>
          </a:xfrm>
          <a:prstGeom prst="roundRect">
            <a:avLst>
              <a:gd name="adj" fmla="val 3030"/>
            </a:avLst>
          </a:prstGeom>
          <a:solidFill>
            <a:srgbClr val="F1F5F9"/>
          </a:solidFill>
          <a:ln w="9525">
            <a:solidFill>
              <a:srgbClr val="E2E8F0"/>
            </a:solidFill>
            <a:prstDash val="solid"/>
          </a:ln>
        </p:spPr>
      </p:sp>
      <p:sp>
        <p:nvSpPr>
          <p:cNvPr id="15" name="Text 13"/>
          <p:cNvSpPr/>
          <p:nvPr/>
        </p:nvSpPr>
        <p:spPr>
          <a:xfrm>
            <a:off x="8229600" y="1810512"/>
            <a:ext cx="219456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Enterprise</a:t>
            </a:r>
            <a:endParaRPr lang="en-US" sz="1350" dirty="0"/>
          </a:p>
        </p:txBody>
      </p:sp>
      <p:sp>
        <p:nvSpPr>
          <p:cNvPr id="16" name="Text 14"/>
          <p:cNvSpPr/>
          <p:nvPr/>
        </p:nvSpPr>
        <p:spPr>
          <a:xfrm>
            <a:off x="8229600" y="2103120"/>
            <a:ext cx="3017520" cy="54864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$35,000</a:t>
            </a:r>
            <a:endParaRPr lang="en-US" sz="3200" dirty="0"/>
          </a:p>
        </p:txBody>
      </p:sp>
      <p:sp>
        <p:nvSpPr>
          <p:cNvPr id="17" name="Text 15"/>
          <p:cNvSpPr/>
          <p:nvPr/>
        </p:nvSpPr>
        <p:spPr>
          <a:xfrm>
            <a:off x="8229600" y="2670048"/>
            <a:ext cx="3017520" cy="27432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Gov agency, multi-campus</a:t>
            </a:r>
            <a:endParaRPr lang="en-US" sz="1150" dirty="0"/>
          </a:p>
        </p:txBody>
      </p:sp>
      <p:sp>
        <p:nvSpPr>
          <p:cNvPr id="18" name="Text 16"/>
          <p:cNvSpPr/>
          <p:nvPr/>
        </p:nvSpPr>
        <p:spPr>
          <a:xfrm>
            <a:off x="8229600" y="2962656"/>
            <a:ext cx="3017520" cy="36576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1,000 seats · $13,000 platform · $22/seat</a:t>
            </a:r>
            <a:endParaRPr lang="en-US" sz="1050" dirty="0"/>
          </a:p>
        </p:txBody>
      </p:sp>
      <p:sp>
        <p:nvSpPr>
          <p:cNvPr id="19" name="Text 17"/>
          <p:cNvSpPr/>
          <p:nvPr/>
        </p:nvSpPr>
        <p:spPr>
          <a:xfrm>
            <a:off x="566928" y="3675888"/>
            <a:ext cx="11064240" cy="402336"/>
          </a:xfrm>
          <a:prstGeom prst="rect">
            <a:avLst/>
          </a:prstGeom>
          <a:noFill/>
          <a:ln/>
        </p:spPr>
        <p:txBody>
          <a:bodyPr wrap="square" lIns="0" tIns="0" rIns="0" bIns="0" rtlCol="0" anchor="t"/>
          <a:lstStyle/>
          <a:p>
            <a:pPr indent="0" marL="0">
              <a:buNone/>
            </a:pPr>
            <a:r>
              <a:rPr lang="en-US" sz="1200" i="1" dirty="0">
                <a:solidFill>
                  <a:srgbClr val="1E293B"/>
                </a:solidFill>
                <a:latin typeface="Calibri" pitchFamily="34" charset="0"/>
                <a:ea typeface="Calibri" pitchFamily="34" charset="-122"/>
                <a:cs typeface="Calibri" pitchFamily="34" charset="-120"/>
              </a:rPr>
              <a:t>Why a platform fee: at $22–$29 a seat we sit below the price of a single simulation licence ($30–$50/student at Interpretive and Harvard Business Publishing). Seat-only leaves no floor when a cohort is small.</a:t>
            </a:r>
            <a:endParaRPr lang="en-US" sz="1200" dirty="0"/>
          </a:p>
        </p:txBody>
      </p:sp>
      <p:sp>
        <p:nvSpPr>
          <p:cNvPr id="20" name="Text 18"/>
          <p:cNvSpPr/>
          <p:nvPr/>
        </p:nvSpPr>
        <p:spPr>
          <a:xfrm>
            <a:off x="566928" y="4206240"/>
            <a:ext cx="3657600" cy="310896"/>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Unit economics</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4608576"/>
          <a:ext cx="6949440" cy="914400"/>
        </p:xfrm>
        <a:graphic>
          <a:graphicData uri="http://schemas.openxmlformats.org/drawingml/2006/table">
            <a:tbl>
              <a:tblPr/>
              <a:tblGrid>
                <a:gridCol w="2011680"/>
                <a:gridCol w="1234440"/>
                <a:gridCol w="1234440"/>
                <a:gridCol w="1234440"/>
                <a:gridCol w="1234440"/>
              </a:tblGrid>
              <a:tr h="265176">
                <a:tc>
                  <a:txBody>
                    <a:bodyPr/>
                    <a:lstStyle/>
                    <a:p>
                      <a:pPr algn="l"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2027</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2028</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2029</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2030</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r>
              <a:tr h="265176">
                <a:tc>
                  <a:txBody>
                    <a:bodyPr/>
                    <a:lstStyle/>
                    <a:p>
                      <a:pPr algn="l" indent="0" marL="0">
                        <a:buNone/>
                      </a:pPr>
                      <a:r>
                        <a:rPr lang="en-US" sz="1200" b="1" dirty="0">
                          <a:solidFill>
                            <a:srgbClr val="1E293B"/>
                          </a:solidFill>
                          <a:latin typeface="Calibri" pitchFamily="34" charset="0"/>
                          <a:ea typeface="Calibri" pitchFamily="34" charset="-122"/>
                          <a:cs typeface="Calibri" pitchFamily="34" charset="-120"/>
                        </a:rPr>
                        <a:t>Blended ACV</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$9.4K</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$11.0K</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$12.5K</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$14.1K</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65176">
                <a:tc>
                  <a:txBody>
                    <a:bodyPr/>
                    <a:lstStyle/>
                    <a:p>
                      <a:pPr algn="l" indent="0" marL="0">
                        <a:buNone/>
                      </a:pPr>
                      <a:r>
                        <a:rPr lang="en-US" sz="1200" b="1" dirty="0">
                          <a:solidFill>
                            <a:srgbClr val="1E293B"/>
                          </a:solidFill>
                          <a:latin typeface="Calibri" pitchFamily="34" charset="0"/>
                          <a:ea typeface="Calibri" pitchFamily="34" charset="-122"/>
                          <a:cs typeface="Calibri" pitchFamily="34" charset="-120"/>
                        </a:rPr>
                        <a:t>CAC</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$9.0K</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$8.0K</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$7.2K</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$6.5K</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265176">
                <a:tc>
                  <a:txBody>
                    <a:bodyPr/>
                    <a:lstStyle/>
                    <a:p>
                      <a:pPr algn="l" indent="0" marL="0">
                        <a:buNone/>
                      </a:pPr>
                      <a:r>
                        <a:rPr lang="en-US" sz="1200" b="1" dirty="0">
                          <a:solidFill>
                            <a:srgbClr val="1E293B"/>
                          </a:solidFill>
                          <a:latin typeface="Calibri" pitchFamily="34" charset="0"/>
                          <a:ea typeface="Calibri" pitchFamily="34" charset="-122"/>
                          <a:cs typeface="Calibri" pitchFamily="34" charset="-120"/>
                        </a:rPr>
                        <a:t>CAC payback</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13.6 mo</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10.2 mo</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8.1 mo</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6.5 mo</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65176">
                <a:tc>
                  <a:txBody>
                    <a:bodyPr/>
                    <a:lstStyle/>
                    <a:p>
                      <a:pPr algn="l" indent="0" marL="0">
                        <a:buNone/>
                      </a:pPr>
                      <a:r>
                        <a:rPr lang="en-US" sz="1200" b="1" dirty="0">
                          <a:solidFill>
                            <a:srgbClr val="1E293B"/>
                          </a:solidFill>
                          <a:latin typeface="Calibri" pitchFamily="34" charset="0"/>
                          <a:ea typeface="Calibri" pitchFamily="34" charset="-122"/>
                          <a:cs typeface="Calibri" pitchFamily="34" charset="-120"/>
                        </a:rPr>
                        <a:t>LTV : CAC</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b="1" dirty="0">
                          <a:solidFill>
                            <a:srgbClr val="0E7490"/>
                          </a:solidFill>
                          <a:latin typeface="Calibri" pitchFamily="34" charset="0"/>
                          <a:ea typeface="Calibri" pitchFamily="34" charset="-122"/>
                          <a:cs typeface="Calibri" pitchFamily="34" charset="-120"/>
                        </a:rPr>
                        <a:t>3.5x</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b="1" dirty="0">
                          <a:solidFill>
                            <a:srgbClr val="0E7490"/>
                          </a:solidFill>
                          <a:latin typeface="Calibri" pitchFamily="34" charset="0"/>
                          <a:ea typeface="Calibri" pitchFamily="34" charset="-122"/>
                          <a:cs typeface="Calibri" pitchFamily="34" charset="-120"/>
                        </a:rPr>
                        <a:t>4.7x</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b="1" dirty="0">
                          <a:solidFill>
                            <a:srgbClr val="0E7490"/>
                          </a:solidFill>
                          <a:latin typeface="Calibri" pitchFamily="34" charset="0"/>
                          <a:ea typeface="Calibri" pitchFamily="34" charset="-122"/>
                          <a:cs typeface="Calibri" pitchFamily="34" charset="-120"/>
                        </a:rPr>
                        <a:t>5.9x</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b="1" dirty="0">
                          <a:solidFill>
                            <a:srgbClr val="0E7490"/>
                          </a:solidFill>
                          <a:latin typeface="Calibri" pitchFamily="34" charset="0"/>
                          <a:ea typeface="Calibri" pitchFamily="34" charset="-122"/>
                          <a:cs typeface="Calibri" pitchFamily="34" charset="-120"/>
                        </a:rPr>
                        <a:t>7.4x</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bl>
          </a:graphicData>
        </a:graphic>
      </p:graphicFrame>
      <p:sp>
        <p:nvSpPr>
          <p:cNvPr id="22" name="Shape 19"/>
          <p:cNvSpPr/>
          <p:nvPr/>
        </p:nvSpPr>
        <p:spPr>
          <a:xfrm>
            <a:off x="7882128" y="4206240"/>
            <a:ext cx="3739896" cy="1700784"/>
          </a:xfrm>
          <a:prstGeom prst="roundRect">
            <a:avLst>
              <a:gd name="adj" fmla="val 3226"/>
            </a:avLst>
          </a:prstGeom>
          <a:solidFill>
            <a:srgbClr val="F1F5F9"/>
          </a:solidFill>
          <a:ln w="9525">
            <a:solidFill>
              <a:srgbClr val="E2E8F0"/>
            </a:solidFill>
            <a:prstDash val="solid"/>
          </a:ln>
        </p:spPr>
      </p:sp>
      <p:sp>
        <p:nvSpPr>
          <p:cNvPr id="23" name="Text 20"/>
          <p:cNvSpPr/>
          <p:nvPr/>
        </p:nvSpPr>
        <p:spPr>
          <a:xfrm>
            <a:off x="8138160" y="4370832"/>
            <a:ext cx="3383280" cy="310896"/>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Gross margin 85%</a:t>
            </a:r>
            <a:endParaRPr lang="en-US" sz="1400" dirty="0"/>
          </a:p>
        </p:txBody>
      </p:sp>
      <p:sp>
        <p:nvSpPr>
          <p:cNvPr id="24" name="Text 21"/>
          <p:cNvSpPr/>
          <p:nvPr/>
        </p:nvSpPr>
        <p:spPr>
          <a:xfrm>
            <a:off x="8138160" y="4700016"/>
            <a:ext cx="3227832" cy="1097280"/>
          </a:xfrm>
          <a:prstGeom prst="rect">
            <a:avLst/>
          </a:prstGeom>
          <a:noFill/>
          <a:ln/>
        </p:spPr>
        <p:txBody>
          <a:bodyPr wrap="square" lIns="0" tIns="0" rIns="0" bIns="0" rtlCol="0" anchor="t"/>
          <a:lstStyle/>
          <a:p>
            <a:pPr marL="177800" indent="-177800">
              <a:spcAft>
                <a:spcPts val="500"/>
              </a:spcAft>
              <a:buSzPct val="100000"/>
              <a:buChar char="•"/>
            </a:pPr>
            <a:r>
              <a:rPr lang="en-US" sz="1050" dirty="0">
                <a:solidFill>
                  <a:srgbClr val="1E293B"/>
                </a:solidFill>
                <a:latin typeface="Calibri" pitchFamily="34" charset="0"/>
                <a:ea typeface="Calibri" pitchFamily="34" charset="-122"/>
                <a:cs typeface="Calibri" pitchFamily="34" charset="-120"/>
              </a:rPr>
              <a:t>Net expansion modelled at 112% — below the 118% vertical-SaaS median.</a:t>
            </a:r>
            <a:endParaRPr lang="en-US" sz="1050" dirty="0"/>
          </a:p>
          <a:p>
            <a:pPr marL="177800" indent="-177800">
              <a:spcAft>
                <a:spcPts val="500"/>
              </a:spcAft>
              <a:buSzPct val="100000"/>
              <a:buChar char="•"/>
            </a:pPr>
            <a:r>
              <a:rPr lang="en-US" sz="1050" dirty="0">
                <a:solidFill>
                  <a:srgbClr val="1E293B"/>
                </a:solidFill>
                <a:latin typeface="Calibri" pitchFamily="34" charset="0"/>
                <a:ea typeface="Calibri" pitchFamily="34" charset="-122"/>
                <a:cs typeface="Calibri" pitchFamily="34" charset="-120"/>
              </a:rPr>
              <a:t>Services capped at ~5% of revenue to protect margin.</a:t>
            </a:r>
            <a:endParaRPr lang="en-US" sz="1050" dirty="0"/>
          </a:p>
          <a:p>
            <a:pPr marL="177800" indent="-177800">
              <a:spcAft>
                <a:spcPts val="500"/>
              </a:spcAft>
              <a:buSzPct val="100000"/>
              <a:buChar char="•"/>
            </a:pPr>
            <a:r>
              <a:rPr lang="en-US" sz="1050" dirty="0">
                <a:solidFill>
                  <a:srgbClr val="1E293B"/>
                </a:solidFill>
                <a:latin typeface="Calibri" pitchFamily="34" charset="0"/>
                <a:ea typeface="Calibri" pitchFamily="34" charset="-122"/>
                <a:cs typeface="Calibri" pitchFamily="34" charset="-120"/>
              </a:rPr>
              <a:t>CAC rises before it falls: founder-led first, partner-led from 2028.</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200" kern="0" dirty="0">
                <a:solidFill>
                  <a:srgbClr val="0E7490"/>
                </a:solidFill>
                <a:latin typeface="Calibri" pitchFamily="34" charset="0"/>
                <a:ea typeface="Calibri" pitchFamily="34" charset="-122"/>
                <a:cs typeface="Calibri" pitchFamily="34" charset="-120"/>
              </a:rPr>
              <a:t>COMPETITIVE EDGE</a:t>
            </a:r>
            <a:endParaRPr lang="en-US" sz="1100" dirty="0"/>
          </a:p>
        </p:txBody>
      </p:sp>
      <p:sp>
        <p:nvSpPr>
          <p:cNvPr id="3" name="Text 1"/>
          <p:cNvSpPr/>
          <p:nvPr/>
        </p:nvSpPr>
        <p:spPr>
          <a:xfrm>
            <a:off x="566928" y="658368"/>
            <a:ext cx="11055096" cy="777240"/>
          </a:xfrm>
          <a:prstGeom prst="rect">
            <a:avLst/>
          </a:prstGeom>
          <a:noFill/>
          <a:ln/>
        </p:spPr>
        <p:txBody>
          <a:bodyPr wrap="square" lIns="0" tIns="0" rIns="0" bIns="0" rtlCol="0" anchor="ctr"/>
          <a:lstStyle/>
          <a:p>
            <a:pPr indent="0" marL="0">
              <a:buNone/>
            </a:pPr>
            <a:r>
              <a:rPr lang="en-US" sz="3800" b="1" dirty="0">
                <a:solidFill>
                  <a:srgbClr val="0F172A"/>
                </a:solidFill>
                <a:latin typeface="Cambria" pitchFamily="34" charset="0"/>
                <a:ea typeface="Cambria" pitchFamily="34" charset="-122"/>
                <a:cs typeface="Cambria" pitchFamily="34" charset="-120"/>
              </a:rPr>
              <a:t>The market is split four ways. Nothing spans it.</a:t>
            </a:r>
            <a:endParaRPr lang="en-US" sz="3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55096" cy="914400"/>
        </p:xfrm>
        <a:graphic>
          <a:graphicData uri="http://schemas.openxmlformats.org/drawingml/2006/table">
            <a:tbl>
              <a:tblPr/>
              <a:tblGrid>
                <a:gridCol w="2286000"/>
                <a:gridCol w="3246120"/>
                <a:gridCol w="1956816"/>
                <a:gridCol w="3566160"/>
              </a:tblGrid>
              <a:tr h="40233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Category</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Who</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Price</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they cannot do</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r>
              <a:tr h="402336">
                <a:tc>
                  <a:txBody>
                    <a:bodyPr/>
                    <a:lstStyle/>
                    <a:p>
                      <a:pPr indent="0" marL="0">
                        <a:buNone/>
                      </a:pPr>
                      <a:r>
                        <a:rPr lang="en-US" sz="1150" b="1" dirty="0">
                          <a:solidFill>
                            <a:srgbClr val="1E293B"/>
                          </a:solidFill>
                          <a:latin typeface="Calibri" pitchFamily="34" charset="0"/>
                          <a:ea typeface="Calibri" pitchFamily="34" charset="-122"/>
                          <a:cs typeface="Calibri" pitchFamily="34" charset="-120"/>
                        </a:rPr>
                        <a:t>Business simulations</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50" dirty="0">
                          <a:solidFill>
                            <a:srgbClr val="1E293B"/>
                          </a:solidFill>
                          <a:latin typeface="Calibri" pitchFamily="34" charset="0"/>
                          <a:ea typeface="Calibri" pitchFamily="34" charset="-122"/>
                          <a:cs typeface="Calibri" pitchFamily="34" charset="-120"/>
                        </a:rPr>
                        <a:t>Capsim, Cesim, Interpretive, Simformer, HBP</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50" dirty="0">
                          <a:solidFill>
                            <a:srgbClr val="1E293B"/>
                          </a:solidFill>
                          <a:latin typeface="Calibri" pitchFamily="34" charset="0"/>
                          <a:ea typeface="Calibri" pitchFamily="34" charset="-122"/>
                          <a:cs typeface="Calibri" pitchFamily="34" charset="-120"/>
                        </a:rPr>
                        <a:t>$11.50–$85 / student</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50" dirty="0">
                          <a:solidFill>
                            <a:srgbClr val="1E293B"/>
                          </a:solidFill>
                          <a:latin typeface="Calibri" pitchFamily="34" charset="0"/>
                          <a:ea typeface="Calibri" pitchFamily="34" charset="-122"/>
                          <a:cs typeface="Calibri" pitchFamily="34" charset="-120"/>
                        </a:rPr>
                        <a:t>No courses, no jury, no tenancy</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402336">
                <a:tc>
                  <a:txBody>
                    <a:bodyPr/>
                    <a:lstStyle/>
                    <a:p>
                      <a:pPr indent="0" marL="0">
                        <a:buNone/>
                      </a:pPr>
                      <a:r>
                        <a:rPr lang="en-US" sz="1150" b="1" dirty="0">
                          <a:solidFill>
                            <a:srgbClr val="1E293B"/>
                          </a:solidFill>
                          <a:latin typeface="Calibri" pitchFamily="34" charset="0"/>
                          <a:ea typeface="Calibri" pitchFamily="34" charset="-122"/>
                          <a:cs typeface="Calibri" pitchFamily="34" charset="-120"/>
                        </a:rPr>
                        <a:t>Hackathon &amp; judging</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E293B"/>
                          </a:solidFill>
                          <a:latin typeface="Calibri" pitchFamily="34" charset="0"/>
                          <a:ea typeface="Calibri" pitchFamily="34" charset="-122"/>
                          <a:cs typeface="Calibri" pitchFamily="34" charset="-120"/>
                        </a:rPr>
                        <a:t>Devpost, Award Force, YouNoodle, ScoreJudge</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E293B"/>
                          </a:solidFill>
                          <a:latin typeface="Calibri" pitchFamily="34" charset="0"/>
                          <a:ea typeface="Calibri" pitchFamily="34" charset="-122"/>
                          <a:cs typeface="Calibri" pitchFamily="34" charset="-120"/>
                        </a:rPr>
                        <a:t>$999–$6,500 / yr</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E293B"/>
                          </a:solidFill>
                          <a:latin typeface="Calibri" pitchFamily="34" charset="0"/>
                          <a:ea typeface="Calibri" pitchFamily="34" charset="-122"/>
                          <a:cs typeface="Calibri" pitchFamily="34" charset="-120"/>
                        </a:rPr>
                        <a:t>Starts at submission. Never saw the learner</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2336">
                <a:tc>
                  <a:txBody>
                    <a:bodyPr/>
                    <a:lstStyle/>
                    <a:p>
                      <a:pPr indent="0" marL="0">
                        <a:buNone/>
                      </a:pPr>
                      <a:r>
                        <a:rPr lang="en-US" sz="1150" b="1" dirty="0">
                          <a:solidFill>
                            <a:srgbClr val="1E293B"/>
                          </a:solidFill>
                          <a:latin typeface="Calibri" pitchFamily="34" charset="0"/>
                          <a:ea typeface="Calibri" pitchFamily="34" charset="-122"/>
                          <a:cs typeface="Calibri" pitchFamily="34" charset="-120"/>
                        </a:rPr>
                        <a:t>Accelerator ops</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50" dirty="0">
                          <a:solidFill>
                            <a:srgbClr val="1E293B"/>
                          </a:solidFill>
                          <a:latin typeface="Calibri" pitchFamily="34" charset="0"/>
                          <a:ea typeface="Calibri" pitchFamily="34" charset="-122"/>
                          <a:cs typeface="Calibri" pitchFamily="34" charset="-120"/>
                        </a:rPr>
                        <a:t>F6S, AcceleratorApp, Startup Space</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50" dirty="0">
                          <a:solidFill>
                            <a:srgbClr val="1E293B"/>
                          </a:solidFill>
                          <a:latin typeface="Calibri" pitchFamily="34" charset="0"/>
                          <a:ea typeface="Calibri" pitchFamily="34" charset="-122"/>
                          <a:cs typeface="Calibri" pitchFamily="34" charset="-120"/>
                        </a:rPr>
                        <a:t>~$200+/mo</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50" dirty="0">
                          <a:solidFill>
                            <a:srgbClr val="1E293B"/>
                          </a:solidFill>
                          <a:latin typeface="Calibri" pitchFamily="34" charset="0"/>
                          <a:ea typeface="Calibri" pitchFamily="34" charset="-122"/>
                          <a:cs typeface="Calibri" pitchFamily="34" charset="-120"/>
                        </a:rPr>
                        <a:t>CRM only. No exams, sims or gamification</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402336">
                <a:tc>
                  <a:txBody>
                    <a:bodyPr/>
                    <a:lstStyle/>
                    <a:p>
                      <a:pPr indent="0" marL="0">
                        <a:buNone/>
                      </a:pPr>
                      <a:r>
                        <a:rPr lang="en-US" sz="1150" b="1" dirty="0">
                          <a:solidFill>
                            <a:srgbClr val="1E293B"/>
                          </a:solidFill>
                          <a:latin typeface="Calibri" pitchFamily="34" charset="0"/>
                          <a:ea typeface="Calibri" pitchFamily="34" charset="-122"/>
                          <a:cs typeface="Calibri" pitchFamily="34" charset="-120"/>
                        </a:rPr>
                        <a:t>Institutional LMS</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E293B"/>
                          </a:solidFill>
                          <a:latin typeface="Calibri" pitchFamily="34" charset="0"/>
                          <a:ea typeface="Calibri" pitchFamily="34" charset="-122"/>
                          <a:cs typeface="Calibri" pitchFamily="34" charset="-120"/>
                        </a:rPr>
                        <a:t>Moodle, Canvas, Blackboard, 360Learning</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E293B"/>
                          </a:solidFill>
                          <a:latin typeface="Calibri" pitchFamily="34" charset="0"/>
                          <a:ea typeface="Calibri" pitchFamily="34" charset="-122"/>
                          <a:cs typeface="Calibri" pitchFamily="34" charset="-120"/>
                        </a:rPr>
                        <a:t>$2.24–$96 / user</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E293B"/>
                          </a:solidFill>
                          <a:latin typeface="Calibri" pitchFamily="34" charset="0"/>
                          <a:ea typeface="Calibri" pitchFamily="34" charset="-122"/>
                          <a:cs typeface="Calibri" pitchFamily="34" charset="-120"/>
                        </a:rPr>
                        <a:t>No jury panels, no teams, no sim engine</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5" name="Shape 2"/>
          <p:cNvSpPr/>
          <p:nvPr/>
        </p:nvSpPr>
        <p:spPr>
          <a:xfrm>
            <a:off x="566928" y="3877056"/>
            <a:ext cx="11055096" cy="1060704"/>
          </a:xfrm>
          <a:prstGeom prst="roundRect">
            <a:avLst>
              <a:gd name="adj" fmla="val 5172"/>
            </a:avLst>
          </a:prstGeom>
          <a:solidFill>
            <a:srgbClr val="0F172A"/>
          </a:solidFill>
          <a:ln w="9525">
            <a:solidFill>
              <a:srgbClr val="E2E8F0"/>
            </a:solidFill>
            <a:prstDash val="solid"/>
          </a:ln>
        </p:spPr>
      </p:sp>
      <p:sp>
        <p:nvSpPr>
          <p:cNvPr id="6" name="Text 3"/>
          <p:cNvSpPr/>
          <p:nvPr/>
        </p:nvSpPr>
        <p:spPr>
          <a:xfrm>
            <a:off x="841248" y="4023360"/>
            <a:ext cx="3108960" cy="292608"/>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Verified white space</a:t>
            </a:r>
            <a:endParaRPr lang="en-US" sz="1300" dirty="0"/>
          </a:p>
        </p:txBody>
      </p:sp>
      <p:sp>
        <p:nvSpPr>
          <p:cNvPr id="7" name="Text 4"/>
          <p:cNvSpPr/>
          <p:nvPr/>
        </p:nvSpPr>
        <p:spPr>
          <a:xfrm>
            <a:off x="841248" y="4315968"/>
            <a:ext cx="10515600" cy="512064"/>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Across 30+ vendors researched, no single product combines course progress + server-side exams + a simulation engine + weighted jury scoring + a coin/badge economy, under white-label multi-tenancy, sold per seat to universities, technoparks and agencies.</a:t>
            </a:r>
            <a:endParaRPr lang="en-US" sz="1150" dirty="0"/>
          </a:p>
        </p:txBody>
      </p:sp>
      <p:sp>
        <p:nvSpPr>
          <p:cNvPr id="8" name="Text 5"/>
          <p:cNvSpPr/>
          <p:nvPr/>
        </p:nvSpPr>
        <p:spPr>
          <a:xfrm>
            <a:off x="566928" y="5138928"/>
            <a:ext cx="4206240" cy="292608"/>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The honest counter-argument</a:t>
            </a:r>
            <a:endParaRPr lang="en-US" sz="1300" dirty="0"/>
          </a:p>
        </p:txBody>
      </p:sp>
      <p:sp>
        <p:nvSpPr>
          <p:cNvPr id="9" name="Text 6"/>
          <p:cNvSpPr/>
          <p:nvPr/>
        </p:nvSpPr>
        <p:spPr>
          <a:xfrm>
            <a:off x="566928" y="5431536"/>
            <a:ext cx="11055096" cy="51206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Every module is individually commoditised — jury scoring is free at ScoreJudge, LMS is free at Moodle, simulations start at $20. The moat is integration, tenancy and a multi-year participant record. It is built through customer count, not code.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200" kern="0" dirty="0">
                <a:solidFill>
                  <a:srgbClr val="0E7490"/>
                </a:solidFill>
                <a:latin typeface="Calibri" pitchFamily="34" charset="0"/>
                <a:ea typeface="Calibri" pitchFamily="34" charset="-122"/>
                <a:cs typeface="Calibri" pitchFamily="34" charset="-120"/>
              </a:rPr>
              <a:t>TRACTION &amp; PLAN</a:t>
            </a:r>
            <a:endParaRPr lang="en-US" sz="1100" dirty="0"/>
          </a:p>
        </p:txBody>
      </p:sp>
      <p:sp>
        <p:nvSpPr>
          <p:cNvPr id="3" name="Text 1"/>
          <p:cNvSpPr/>
          <p:nvPr/>
        </p:nvSpPr>
        <p:spPr>
          <a:xfrm>
            <a:off x="566928" y="658368"/>
            <a:ext cx="11055096" cy="777240"/>
          </a:xfrm>
          <a:prstGeom prst="rect">
            <a:avLst/>
          </a:prstGeom>
          <a:noFill/>
          <a:ln/>
        </p:spPr>
        <p:txBody>
          <a:bodyPr wrap="square" lIns="0" tIns="0" rIns="0" bIns="0" rtlCol="0" anchor="ctr"/>
          <a:lstStyle/>
          <a:p>
            <a:pPr indent="0" marL="0">
              <a:buNone/>
            </a:pPr>
            <a:r>
              <a:rPr lang="en-US" sz="3800" b="1" dirty="0">
                <a:solidFill>
                  <a:srgbClr val="0F172A"/>
                </a:solidFill>
                <a:latin typeface="Cambria" pitchFamily="34" charset="0"/>
                <a:ea typeface="Cambria" pitchFamily="34" charset="-122"/>
                <a:cs typeface="Cambria" pitchFamily="34" charset="-120"/>
              </a:rPr>
              <a:t>Product done. Revenue is the next build.</a:t>
            </a:r>
            <a:endParaRPr lang="en-US" sz="3800" dirty="0"/>
          </a:p>
        </p:txBody>
      </p:sp>
      <p:graphicFrame>
        <p:nvGraphicFramePr>
          <p:cNvPr id="4" name="Chart 0" descr=""/>
          <p:cNvGraphicFramePr/>
          <p:nvPr/>
        </p:nvGraphicFramePr>
        <p:xfrm>
          <a:off x="457200" y="1627632"/>
          <a:ext cx="5943600" cy="31089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720840" y="1664208"/>
            <a:ext cx="3657600" cy="310896"/>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Milestones</a:t>
            </a:r>
            <a:endParaRPr lang="en-US" sz="1500" dirty="0"/>
          </a:p>
        </p:txBody>
      </p:sp>
      <p:sp>
        <p:nvSpPr>
          <p:cNvPr id="6" name="Shape 3"/>
          <p:cNvSpPr/>
          <p:nvPr/>
        </p:nvSpPr>
        <p:spPr>
          <a:xfrm>
            <a:off x="6720840" y="2121408"/>
            <a:ext cx="146304" cy="146304"/>
          </a:xfrm>
          <a:prstGeom prst="ellipse">
            <a:avLst/>
          </a:prstGeom>
          <a:solidFill>
            <a:srgbClr val="0F172A"/>
          </a:solidFill>
          <a:ln/>
        </p:spPr>
      </p:sp>
      <p:sp>
        <p:nvSpPr>
          <p:cNvPr id="7" name="Text 4"/>
          <p:cNvSpPr/>
          <p:nvPr/>
        </p:nvSpPr>
        <p:spPr>
          <a:xfrm>
            <a:off x="6967728" y="2039112"/>
            <a:ext cx="1234440" cy="27432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Q4 2026</a:t>
            </a:r>
            <a:endParaRPr lang="en-US" sz="1200" dirty="0"/>
          </a:p>
        </p:txBody>
      </p:sp>
      <p:sp>
        <p:nvSpPr>
          <p:cNvPr id="8" name="Text 5"/>
          <p:cNvSpPr/>
          <p:nvPr/>
        </p:nvSpPr>
        <p:spPr>
          <a:xfrm>
            <a:off x="8247888" y="2020824"/>
            <a:ext cx="3383280" cy="603504"/>
          </a:xfrm>
          <a:prstGeom prst="rect">
            <a:avLst/>
          </a:prstGeom>
          <a:noFill/>
          <a:ln/>
        </p:spPr>
        <p:txBody>
          <a:bodyPr wrap="square" lIns="0" tIns="0" rIns="0" bIns="0" rtlCol="0" anchor="t"/>
          <a:lstStyle/>
          <a:p>
            <a:pPr indent="0" marL="0">
              <a:lnSpc>
                <a:spcPts val="1300"/>
              </a:lnSpc>
              <a:buNone/>
            </a:pPr>
            <a:r>
              <a:rPr lang="en-US" sz="1050" dirty="0">
                <a:solidFill>
                  <a:srgbClr val="1E293B"/>
                </a:solidFill>
                <a:latin typeface="Calibri" pitchFamily="34" charset="0"/>
                <a:ea typeface="Calibri" pitchFamily="34" charset="-122"/>
                <a:cs typeface="Calibri" pitchFamily="34" charset="-120"/>
              </a:rPr>
              <a:t>Live deployment. 5–7 paying institutions. $49K ARR.</a:t>
            </a:r>
            <a:endParaRPr lang="en-US" sz="1050" dirty="0"/>
          </a:p>
        </p:txBody>
      </p:sp>
      <p:sp>
        <p:nvSpPr>
          <p:cNvPr id="9" name="Shape 6"/>
          <p:cNvSpPr/>
          <p:nvPr/>
        </p:nvSpPr>
        <p:spPr>
          <a:xfrm>
            <a:off x="6720840" y="2779776"/>
            <a:ext cx="146304" cy="146304"/>
          </a:xfrm>
          <a:prstGeom prst="ellipse">
            <a:avLst/>
          </a:prstGeom>
          <a:solidFill>
            <a:srgbClr val="0F172A"/>
          </a:solidFill>
          <a:ln/>
        </p:spPr>
      </p:sp>
      <p:sp>
        <p:nvSpPr>
          <p:cNvPr id="10" name="Text 7"/>
          <p:cNvSpPr/>
          <p:nvPr/>
        </p:nvSpPr>
        <p:spPr>
          <a:xfrm>
            <a:off x="6967728" y="2697480"/>
            <a:ext cx="1234440" cy="27432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2027</a:t>
            </a:r>
            <a:endParaRPr lang="en-US" sz="1200" dirty="0"/>
          </a:p>
        </p:txBody>
      </p:sp>
      <p:sp>
        <p:nvSpPr>
          <p:cNvPr id="11" name="Text 8"/>
          <p:cNvSpPr/>
          <p:nvPr/>
        </p:nvSpPr>
        <p:spPr>
          <a:xfrm>
            <a:off x="8247888" y="2679192"/>
            <a:ext cx="3383280" cy="603504"/>
          </a:xfrm>
          <a:prstGeom prst="rect">
            <a:avLst/>
          </a:prstGeom>
          <a:noFill/>
          <a:ln/>
        </p:spPr>
        <p:txBody>
          <a:bodyPr wrap="square" lIns="0" tIns="0" rIns="0" bIns="0" rtlCol="0" anchor="t"/>
          <a:lstStyle/>
          <a:p>
            <a:pPr indent="0" marL="0">
              <a:lnSpc>
                <a:spcPts val="1300"/>
              </a:lnSpc>
              <a:buNone/>
            </a:pPr>
            <a:r>
              <a:rPr lang="en-US" sz="1050" dirty="0">
                <a:solidFill>
                  <a:srgbClr val="1E293B"/>
                </a:solidFill>
                <a:latin typeface="Calibri" pitchFamily="34" charset="0"/>
                <a:ea typeface="Calibri" pitchFamily="34" charset="-122"/>
                <a:cs typeface="Calibri" pitchFamily="34" charset="-120"/>
              </a:rPr>
              <a:t>35 institutions, $327K ARR. First 2 sales hires. EIT HEI + Horizon consortium applications.</a:t>
            </a:r>
            <a:endParaRPr lang="en-US" sz="1050" dirty="0"/>
          </a:p>
        </p:txBody>
      </p:sp>
      <p:sp>
        <p:nvSpPr>
          <p:cNvPr id="12" name="Shape 9"/>
          <p:cNvSpPr/>
          <p:nvPr/>
        </p:nvSpPr>
        <p:spPr>
          <a:xfrm>
            <a:off x="6720840" y="3438144"/>
            <a:ext cx="146304" cy="146304"/>
          </a:xfrm>
          <a:prstGeom prst="ellipse">
            <a:avLst/>
          </a:prstGeom>
          <a:solidFill>
            <a:srgbClr val="0E7490"/>
          </a:solidFill>
          <a:ln/>
        </p:spPr>
      </p:sp>
      <p:sp>
        <p:nvSpPr>
          <p:cNvPr id="13" name="Text 10"/>
          <p:cNvSpPr/>
          <p:nvPr/>
        </p:nvSpPr>
        <p:spPr>
          <a:xfrm>
            <a:off x="6967728" y="3355848"/>
            <a:ext cx="1234440" cy="27432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H1 2028</a:t>
            </a:r>
            <a:endParaRPr lang="en-US" sz="1200" dirty="0"/>
          </a:p>
        </p:txBody>
      </p:sp>
      <p:sp>
        <p:nvSpPr>
          <p:cNvPr id="14" name="Text 11"/>
          <p:cNvSpPr/>
          <p:nvPr/>
        </p:nvSpPr>
        <p:spPr>
          <a:xfrm>
            <a:off x="8247888" y="3337560"/>
            <a:ext cx="3383280" cy="603504"/>
          </a:xfrm>
          <a:prstGeom prst="rect">
            <a:avLst/>
          </a:prstGeom>
          <a:noFill/>
          <a:ln/>
        </p:spPr>
        <p:txBody>
          <a:bodyPr wrap="square" lIns="0" tIns="0" rIns="0" bIns="0" rtlCol="0" anchor="t"/>
          <a:lstStyle/>
          <a:p>
            <a:pPr indent="0" marL="0">
              <a:lnSpc>
                <a:spcPts val="1300"/>
              </a:lnSpc>
              <a:buNone/>
            </a:pPr>
            <a:r>
              <a:rPr lang="en-US" sz="1050" dirty="0">
                <a:solidFill>
                  <a:srgbClr val="1E293B"/>
                </a:solidFill>
                <a:latin typeface="Calibri" pitchFamily="34" charset="0"/>
                <a:ea typeface="Calibri" pitchFamily="34" charset="-122"/>
                <a:cs typeface="Calibri" pitchFamily="34" charset="-120"/>
              </a:rPr>
              <a:t>Series A ≈ $3M on NRR &gt;110%, payback &lt;12 mo, 100-institution pipeline.</a:t>
            </a:r>
            <a:endParaRPr lang="en-US" sz="1050" dirty="0"/>
          </a:p>
        </p:txBody>
      </p:sp>
      <p:sp>
        <p:nvSpPr>
          <p:cNvPr id="15" name="Shape 12"/>
          <p:cNvSpPr/>
          <p:nvPr/>
        </p:nvSpPr>
        <p:spPr>
          <a:xfrm>
            <a:off x="6720840" y="4096512"/>
            <a:ext cx="146304" cy="146304"/>
          </a:xfrm>
          <a:prstGeom prst="ellipse">
            <a:avLst/>
          </a:prstGeom>
          <a:solidFill>
            <a:srgbClr val="0F172A"/>
          </a:solidFill>
          <a:ln/>
        </p:spPr>
      </p:sp>
      <p:sp>
        <p:nvSpPr>
          <p:cNvPr id="16" name="Text 13"/>
          <p:cNvSpPr/>
          <p:nvPr/>
        </p:nvSpPr>
        <p:spPr>
          <a:xfrm>
            <a:off x="6967728" y="4014216"/>
            <a:ext cx="1234440" cy="27432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2028–29</a:t>
            </a:r>
            <a:endParaRPr lang="en-US" sz="1200" dirty="0"/>
          </a:p>
        </p:txBody>
      </p:sp>
      <p:sp>
        <p:nvSpPr>
          <p:cNvPr id="17" name="Text 14"/>
          <p:cNvSpPr/>
          <p:nvPr/>
        </p:nvSpPr>
        <p:spPr>
          <a:xfrm>
            <a:off x="8247888" y="3995928"/>
            <a:ext cx="3383280" cy="603504"/>
          </a:xfrm>
          <a:prstGeom prst="rect">
            <a:avLst/>
          </a:prstGeom>
          <a:noFill/>
          <a:ln/>
        </p:spPr>
        <p:txBody>
          <a:bodyPr wrap="square" lIns="0" tIns="0" rIns="0" bIns="0" rtlCol="0" anchor="t"/>
          <a:lstStyle/>
          <a:p>
            <a:pPr indent="0" marL="0">
              <a:lnSpc>
                <a:spcPts val="1300"/>
              </a:lnSpc>
              <a:buNone/>
            </a:pPr>
            <a:r>
              <a:rPr lang="en-US" sz="1050" dirty="0">
                <a:solidFill>
                  <a:srgbClr val="1E293B"/>
                </a:solidFill>
                <a:latin typeface="Calibri" pitchFamily="34" charset="0"/>
                <a:ea typeface="Calibri" pitchFamily="34" charset="-122"/>
                <a:cs typeface="Calibri" pitchFamily="34" charset="-120"/>
              </a:rPr>
              <a:t>Partner-led: technopark associations, ministry frameworks. LTI 1.3 makes the LMS a channel.</a:t>
            </a:r>
            <a:endParaRPr lang="en-US" sz="1050" dirty="0"/>
          </a:p>
        </p:txBody>
      </p:sp>
      <p:sp>
        <p:nvSpPr>
          <p:cNvPr id="18" name="Shape 15"/>
          <p:cNvSpPr/>
          <p:nvPr/>
        </p:nvSpPr>
        <p:spPr>
          <a:xfrm>
            <a:off x="6720840" y="4754880"/>
            <a:ext cx="146304" cy="146304"/>
          </a:xfrm>
          <a:prstGeom prst="ellipse">
            <a:avLst/>
          </a:prstGeom>
          <a:solidFill>
            <a:srgbClr val="F59E0B"/>
          </a:solidFill>
          <a:ln/>
        </p:spPr>
      </p:sp>
      <p:sp>
        <p:nvSpPr>
          <p:cNvPr id="19" name="Text 16"/>
          <p:cNvSpPr/>
          <p:nvPr/>
        </p:nvSpPr>
        <p:spPr>
          <a:xfrm>
            <a:off x="6967728" y="4672584"/>
            <a:ext cx="1234440"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2030</a:t>
            </a:r>
            <a:endParaRPr lang="en-US" sz="1200" dirty="0"/>
          </a:p>
        </p:txBody>
      </p:sp>
      <p:sp>
        <p:nvSpPr>
          <p:cNvPr id="20" name="Text 17"/>
          <p:cNvSpPr/>
          <p:nvPr/>
        </p:nvSpPr>
        <p:spPr>
          <a:xfrm>
            <a:off x="8247888" y="4654296"/>
            <a:ext cx="3383280" cy="603504"/>
          </a:xfrm>
          <a:prstGeom prst="rect">
            <a:avLst/>
          </a:prstGeom>
          <a:noFill/>
          <a:ln/>
        </p:spPr>
        <p:txBody>
          <a:bodyPr wrap="square" lIns="0" tIns="0" rIns="0" bIns="0" rtlCol="0" anchor="t"/>
          <a:lstStyle/>
          <a:p>
            <a:pPr indent="0" marL="0">
              <a:lnSpc>
                <a:spcPts val="1300"/>
              </a:lnSpc>
              <a:buNone/>
            </a:pPr>
            <a:r>
              <a:rPr lang="en-US" sz="1050" dirty="0">
                <a:solidFill>
                  <a:srgbClr val="1E293B"/>
                </a:solidFill>
                <a:latin typeface="Calibri" pitchFamily="34" charset="0"/>
                <a:ea typeface="Calibri" pitchFamily="34" charset="-122"/>
                <a:cs typeface="Calibri" pitchFamily="34" charset="-120"/>
              </a:rPr>
              <a:t>374 institutions, $5.28M ARR — EBITDA positive.</a:t>
            </a:r>
            <a:endParaRPr lang="en-US" sz="1050" dirty="0"/>
          </a:p>
        </p:txBody>
      </p:sp>
      <p:sp>
        <p:nvSpPr>
          <p:cNvPr id="21" name="Text 18"/>
          <p:cNvSpPr/>
          <p:nvPr/>
        </p:nvSpPr>
        <p:spPr>
          <a:xfrm>
            <a:off x="566928" y="5614416"/>
            <a:ext cx="11064240" cy="329184"/>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Cumulative burn through 2027: $602K — inside this raise. 2028 plan is throttleable to breakeven if the Series A slips.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200" kern="0" dirty="0">
                <a:solidFill>
                  <a:srgbClr val="0E7490"/>
                </a:solidFill>
                <a:latin typeface="Calibri" pitchFamily="34" charset="0"/>
                <a:ea typeface="Calibri" pitchFamily="34" charset="-122"/>
                <a:cs typeface="Calibri" pitchFamily="34" charset="-120"/>
              </a:rPr>
              <a:t>TEAM</a:t>
            </a:r>
            <a:endParaRPr lang="en-US" sz="1100" dirty="0"/>
          </a:p>
        </p:txBody>
      </p:sp>
      <p:sp>
        <p:nvSpPr>
          <p:cNvPr id="3" name="Text 1"/>
          <p:cNvSpPr/>
          <p:nvPr/>
        </p:nvSpPr>
        <p:spPr>
          <a:xfrm>
            <a:off x="566928" y="658368"/>
            <a:ext cx="11055096" cy="777240"/>
          </a:xfrm>
          <a:prstGeom prst="rect">
            <a:avLst/>
          </a:prstGeom>
          <a:noFill/>
          <a:ln/>
        </p:spPr>
        <p:txBody>
          <a:bodyPr wrap="square" lIns="0" tIns="0" rIns="0" bIns="0" rtlCol="0" anchor="ctr"/>
          <a:lstStyle/>
          <a:p>
            <a:pPr indent="0" marL="0">
              <a:buNone/>
            </a:pPr>
            <a:r>
              <a:rPr lang="en-US" sz="3800" b="1" dirty="0">
                <a:solidFill>
                  <a:srgbClr val="0F172A"/>
                </a:solidFill>
                <a:latin typeface="Cambria" pitchFamily="34" charset="0"/>
                <a:ea typeface="Cambria" pitchFamily="34" charset="-122"/>
                <a:cs typeface="Cambria" pitchFamily="34" charset="-120"/>
              </a:rPr>
              <a:t>Builders in the ecosystem we sell to</a:t>
            </a:r>
            <a:endParaRPr lang="en-US" sz="3800" dirty="0"/>
          </a:p>
        </p:txBody>
      </p:sp>
      <p:sp>
        <p:nvSpPr>
          <p:cNvPr id="4" name="Shape 2"/>
          <p:cNvSpPr/>
          <p:nvPr/>
        </p:nvSpPr>
        <p:spPr>
          <a:xfrm>
            <a:off x="566928" y="1700784"/>
            <a:ext cx="3493008" cy="2286000"/>
          </a:xfrm>
          <a:prstGeom prst="roundRect">
            <a:avLst>
              <a:gd name="adj" fmla="val 2400"/>
            </a:avLst>
          </a:prstGeom>
          <a:solidFill>
            <a:srgbClr val="F1F5F9"/>
          </a:solidFill>
          <a:ln w="9525">
            <a:solidFill>
              <a:srgbClr val="E2E8F0"/>
            </a:solidFill>
            <a:prstDash val="solid"/>
          </a:ln>
        </p:spPr>
      </p:sp>
      <p:sp>
        <p:nvSpPr>
          <p:cNvPr id="5" name="Shape 3"/>
          <p:cNvSpPr/>
          <p:nvPr/>
        </p:nvSpPr>
        <p:spPr>
          <a:xfrm>
            <a:off x="822960" y="1920240"/>
            <a:ext cx="658368" cy="658368"/>
          </a:xfrm>
          <a:prstGeom prst="ellipse">
            <a:avLst/>
          </a:prstGeom>
          <a:solidFill>
            <a:srgbClr val="0F172A"/>
          </a:solidFill>
          <a:ln/>
        </p:spPr>
      </p:sp>
      <p:sp>
        <p:nvSpPr>
          <p:cNvPr id="6" name="Text 4"/>
          <p:cNvSpPr/>
          <p:nvPr/>
        </p:nvSpPr>
        <p:spPr>
          <a:xfrm>
            <a:off x="822960" y="1920240"/>
            <a:ext cx="658368" cy="658368"/>
          </a:xfrm>
          <a:prstGeom prst="rect">
            <a:avLst/>
          </a:prstGeom>
          <a:noFill/>
          <a:ln/>
        </p:spPr>
        <p:txBody>
          <a:bodyPr wrap="square" lIns="0" tIns="0" rIns="0" bIns="0" rtlCol="0" anchor="ctr"/>
          <a:lstStyle/>
          <a:p>
            <a:pPr algn="ctr" indent="0" marL="0">
              <a:buNone/>
            </a:pPr>
            <a:r>
              <a:rPr lang="en-US" sz="2400" b="1" dirty="0">
                <a:solidFill>
                  <a:srgbClr val="F59E0B"/>
                </a:solidFill>
                <a:latin typeface="Cambria" pitchFamily="34" charset="0"/>
                <a:ea typeface="Cambria" pitchFamily="34" charset="-122"/>
                <a:cs typeface="Cambria" pitchFamily="34" charset="-120"/>
              </a:rPr>
              <a:t>A</a:t>
            </a:r>
            <a:endParaRPr lang="en-US" sz="2400" dirty="0"/>
          </a:p>
        </p:txBody>
      </p:sp>
      <p:sp>
        <p:nvSpPr>
          <p:cNvPr id="7" name="Text 5"/>
          <p:cNvSpPr/>
          <p:nvPr/>
        </p:nvSpPr>
        <p:spPr>
          <a:xfrm>
            <a:off x="822960" y="2706624"/>
            <a:ext cx="2980944" cy="292608"/>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[Founder name]</a:t>
            </a:r>
            <a:endParaRPr lang="en-US" sz="1450" dirty="0"/>
          </a:p>
        </p:txBody>
      </p:sp>
      <p:sp>
        <p:nvSpPr>
          <p:cNvPr id="8" name="Text 6"/>
          <p:cNvSpPr/>
          <p:nvPr/>
        </p:nvSpPr>
        <p:spPr>
          <a:xfrm>
            <a:off x="822960" y="2980944"/>
            <a:ext cx="2980944" cy="274320"/>
          </a:xfrm>
          <a:prstGeom prst="rect">
            <a:avLst/>
          </a:prstGeom>
          <a:noFill/>
          <a:ln/>
        </p:spPr>
        <p:txBody>
          <a:bodyPr wrap="square" lIns="0" tIns="0" rIns="0" bIns="0" rtlCol="0" anchor="ctr"/>
          <a:lstStyle/>
          <a:p>
            <a:pPr indent="0" marL="0">
              <a:buNone/>
            </a:pPr>
            <a:r>
              <a:rPr lang="en-US" sz="1150" dirty="0">
                <a:solidFill>
                  <a:srgbClr val="0E7490"/>
                </a:solidFill>
                <a:latin typeface="Calibri" pitchFamily="34" charset="0"/>
                <a:ea typeface="Calibri" pitchFamily="34" charset="-122"/>
                <a:cs typeface="Calibri" pitchFamily="34" charset="-120"/>
              </a:rPr>
              <a:t>Co-founder &amp; CEO</a:t>
            </a:r>
            <a:endParaRPr lang="en-US" sz="1150" dirty="0"/>
          </a:p>
        </p:txBody>
      </p:sp>
      <p:sp>
        <p:nvSpPr>
          <p:cNvPr id="9" name="Text 7"/>
          <p:cNvSpPr/>
          <p:nvPr/>
        </p:nvSpPr>
        <p:spPr>
          <a:xfrm>
            <a:off x="822960" y="3291840"/>
            <a:ext cx="2980944" cy="603504"/>
          </a:xfrm>
          <a:prstGeom prst="rect">
            <a:avLst/>
          </a:prstGeom>
          <a:noFill/>
          <a:ln/>
        </p:spPr>
        <p:txBody>
          <a:bodyPr wrap="square" lIns="0" tIns="0" rIns="0" bIns="0" rtlCol="0" anchor="t"/>
          <a:lstStyle/>
          <a:p>
            <a:pPr indent="0" marL="0">
              <a:lnSpc>
                <a:spcPts val="1300"/>
              </a:lnSpc>
              <a:buNone/>
            </a:pPr>
            <a:r>
              <a:rPr lang="en-US" sz="1100" dirty="0">
                <a:solidFill>
                  <a:srgbClr val="1E293B"/>
                </a:solidFill>
                <a:latin typeface="Calibri" pitchFamily="34" charset="0"/>
                <a:ea typeface="Calibri" pitchFamily="34" charset="-122"/>
                <a:cs typeface="Calibri" pitchFamily="34" charset="-120"/>
              </a:rPr>
              <a:t>Product and commercial. Owns the technopark and ministry relationships in the beachhead market.</a:t>
            </a:r>
            <a:endParaRPr lang="en-US" sz="1100" dirty="0"/>
          </a:p>
        </p:txBody>
      </p:sp>
      <p:sp>
        <p:nvSpPr>
          <p:cNvPr id="10" name="Shape 8"/>
          <p:cNvSpPr/>
          <p:nvPr/>
        </p:nvSpPr>
        <p:spPr>
          <a:xfrm>
            <a:off x="4279392" y="1700784"/>
            <a:ext cx="3493008" cy="2286000"/>
          </a:xfrm>
          <a:prstGeom prst="roundRect">
            <a:avLst>
              <a:gd name="adj" fmla="val 2400"/>
            </a:avLst>
          </a:prstGeom>
          <a:solidFill>
            <a:srgbClr val="F1F5F9"/>
          </a:solidFill>
          <a:ln w="9525">
            <a:solidFill>
              <a:srgbClr val="E2E8F0"/>
            </a:solidFill>
            <a:prstDash val="solid"/>
          </a:ln>
        </p:spPr>
      </p:sp>
      <p:sp>
        <p:nvSpPr>
          <p:cNvPr id="11" name="Shape 9"/>
          <p:cNvSpPr/>
          <p:nvPr/>
        </p:nvSpPr>
        <p:spPr>
          <a:xfrm>
            <a:off x="4535424" y="1920240"/>
            <a:ext cx="658368" cy="658368"/>
          </a:xfrm>
          <a:prstGeom prst="ellipse">
            <a:avLst/>
          </a:prstGeom>
          <a:solidFill>
            <a:srgbClr val="0F172A"/>
          </a:solidFill>
          <a:ln/>
        </p:spPr>
      </p:sp>
      <p:sp>
        <p:nvSpPr>
          <p:cNvPr id="12" name="Text 10"/>
          <p:cNvSpPr/>
          <p:nvPr/>
        </p:nvSpPr>
        <p:spPr>
          <a:xfrm>
            <a:off x="4535424" y="1920240"/>
            <a:ext cx="658368" cy="658368"/>
          </a:xfrm>
          <a:prstGeom prst="rect">
            <a:avLst/>
          </a:prstGeom>
          <a:noFill/>
          <a:ln/>
        </p:spPr>
        <p:txBody>
          <a:bodyPr wrap="square" lIns="0" tIns="0" rIns="0" bIns="0" rtlCol="0" anchor="ctr"/>
          <a:lstStyle/>
          <a:p>
            <a:pPr algn="ctr" indent="0" marL="0">
              <a:buNone/>
            </a:pPr>
            <a:r>
              <a:rPr lang="en-US" sz="2400" b="1" dirty="0">
                <a:solidFill>
                  <a:srgbClr val="F59E0B"/>
                </a:solidFill>
                <a:latin typeface="Cambria" pitchFamily="34" charset="0"/>
                <a:ea typeface="Cambria" pitchFamily="34" charset="-122"/>
                <a:cs typeface="Cambria" pitchFamily="34" charset="-120"/>
              </a:rPr>
              <a:t>B</a:t>
            </a:r>
            <a:endParaRPr lang="en-US" sz="2400" dirty="0"/>
          </a:p>
        </p:txBody>
      </p:sp>
      <p:sp>
        <p:nvSpPr>
          <p:cNvPr id="13" name="Text 11"/>
          <p:cNvSpPr/>
          <p:nvPr/>
        </p:nvSpPr>
        <p:spPr>
          <a:xfrm>
            <a:off x="4535424" y="2706624"/>
            <a:ext cx="2980944" cy="292608"/>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[Founder name]</a:t>
            </a:r>
            <a:endParaRPr lang="en-US" sz="1450" dirty="0"/>
          </a:p>
        </p:txBody>
      </p:sp>
      <p:sp>
        <p:nvSpPr>
          <p:cNvPr id="14" name="Text 12"/>
          <p:cNvSpPr/>
          <p:nvPr/>
        </p:nvSpPr>
        <p:spPr>
          <a:xfrm>
            <a:off x="4535424" y="2980944"/>
            <a:ext cx="2980944" cy="274320"/>
          </a:xfrm>
          <a:prstGeom prst="rect">
            <a:avLst/>
          </a:prstGeom>
          <a:noFill/>
          <a:ln/>
        </p:spPr>
        <p:txBody>
          <a:bodyPr wrap="square" lIns="0" tIns="0" rIns="0" bIns="0" rtlCol="0" anchor="ctr"/>
          <a:lstStyle/>
          <a:p>
            <a:pPr indent="0" marL="0">
              <a:buNone/>
            </a:pPr>
            <a:r>
              <a:rPr lang="en-US" sz="1150" dirty="0">
                <a:solidFill>
                  <a:srgbClr val="0E7490"/>
                </a:solidFill>
                <a:latin typeface="Calibri" pitchFamily="34" charset="0"/>
                <a:ea typeface="Calibri" pitchFamily="34" charset="-122"/>
                <a:cs typeface="Calibri" pitchFamily="34" charset="-120"/>
              </a:rPr>
              <a:t>Co-founder &amp; CTO</a:t>
            </a:r>
            <a:endParaRPr lang="en-US" sz="1150" dirty="0"/>
          </a:p>
        </p:txBody>
      </p:sp>
      <p:sp>
        <p:nvSpPr>
          <p:cNvPr id="15" name="Text 13"/>
          <p:cNvSpPr/>
          <p:nvPr/>
        </p:nvSpPr>
        <p:spPr>
          <a:xfrm>
            <a:off x="4535424" y="3291840"/>
            <a:ext cx="2980944" cy="603504"/>
          </a:xfrm>
          <a:prstGeom prst="rect">
            <a:avLst/>
          </a:prstGeom>
          <a:noFill/>
          <a:ln/>
        </p:spPr>
        <p:txBody>
          <a:bodyPr wrap="square" lIns="0" tIns="0" rIns="0" bIns="0" rtlCol="0" anchor="t"/>
          <a:lstStyle/>
          <a:p>
            <a:pPr indent="0" marL="0">
              <a:lnSpc>
                <a:spcPts val="1300"/>
              </a:lnSpc>
              <a:buNone/>
            </a:pPr>
            <a:r>
              <a:rPr lang="en-US" sz="1100" dirty="0">
                <a:solidFill>
                  <a:srgbClr val="1E293B"/>
                </a:solidFill>
                <a:latin typeface="Calibri" pitchFamily="34" charset="0"/>
                <a:ea typeface="Calibri" pitchFamily="34" charset="-122"/>
                <a:cs typeface="Calibri" pitchFamily="34" charset="-120"/>
              </a:rPr>
              <a:t>Architected the platform: 29 models, 40 API routes, RBAC, multi-tenancy, 126 tests.</a:t>
            </a:r>
            <a:endParaRPr lang="en-US" sz="1100" dirty="0"/>
          </a:p>
        </p:txBody>
      </p:sp>
      <p:sp>
        <p:nvSpPr>
          <p:cNvPr id="16" name="Shape 14"/>
          <p:cNvSpPr/>
          <p:nvPr/>
        </p:nvSpPr>
        <p:spPr>
          <a:xfrm>
            <a:off x="7991856" y="1700784"/>
            <a:ext cx="3493008" cy="2286000"/>
          </a:xfrm>
          <a:prstGeom prst="roundRect">
            <a:avLst>
              <a:gd name="adj" fmla="val 2400"/>
            </a:avLst>
          </a:prstGeom>
          <a:solidFill>
            <a:srgbClr val="F1F5F9"/>
          </a:solidFill>
          <a:ln w="9525">
            <a:solidFill>
              <a:srgbClr val="E2E8F0"/>
            </a:solidFill>
            <a:prstDash val="solid"/>
          </a:ln>
        </p:spPr>
      </p:sp>
      <p:sp>
        <p:nvSpPr>
          <p:cNvPr id="17" name="Shape 15"/>
          <p:cNvSpPr/>
          <p:nvPr/>
        </p:nvSpPr>
        <p:spPr>
          <a:xfrm>
            <a:off x="8247888" y="1920240"/>
            <a:ext cx="658368" cy="658368"/>
          </a:xfrm>
          <a:prstGeom prst="ellipse">
            <a:avLst/>
          </a:prstGeom>
          <a:solidFill>
            <a:srgbClr val="0F172A"/>
          </a:solidFill>
          <a:ln/>
        </p:spPr>
      </p:sp>
      <p:sp>
        <p:nvSpPr>
          <p:cNvPr id="18" name="Text 16"/>
          <p:cNvSpPr/>
          <p:nvPr/>
        </p:nvSpPr>
        <p:spPr>
          <a:xfrm>
            <a:off x="8247888" y="1920240"/>
            <a:ext cx="658368" cy="658368"/>
          </a:xfrm>
          <a:prstGeom prst="rect">
            <a:avLst/>
          </a:prstGeom>
          <a:noFill/>
          <a:ln/>
        </p:spPr>
        <p:txBody>
          <a:bodyPr wrap="square" lIns="0" tIns="0" rIns="0" bIns="0" rtlCol="0" anchor="ctr"/>
          <a:lstStyle/>
          <a:p>
            <a:pPr algn="ctr" indent="0" marL="0">
              <a:buNone/>
            </a:pPr>
            <a:r>
              <a:rPr lang="en-US" sz="2400" b="1" dirty="0">
                <a:solidFill>
                  <a:srgbClr val="F59E0B"/>
                </a:solidFill>
                <a:latin typeface="Cambria" pitchFamily="34" charset="0"/>
                <a:ea typeface="Cambria" pitchFamily="34" charset="-122"/>
                <a:cs typeface="Cambria" pitchFamily="34" charset="-120"/>
              </a:rPr>
              <a:t>C</a:t>
            </a:r>
            <a:endParaRPr lang="en-US" sz="2400" dirty="0"/>
          </a:p>
        </p:txBody>
      </p:sp>
      <p:sp>
        <p:nvSpPr>
          <p:cNvPr id="19" name="Text 17"/>
          <p:cNvSpPr/>
          <p:nvPr/>
        </p:nvSpPr>
        <p:spPr>
          <a:xfrm>
            <a:off x="8247888" y="2706624"/>
            <a:ext cx="2980944" cy="292608"/>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[Name]</a:t>
            </a:r>
            <a:endParaRPr lang="en-US" sz="1450" dirty="0"/>
          </a:p>
        </p:txBody>
      </p:sp>
      <p:sp>
        <p:nvSpPr>
          <p:cNvPr id="20" name="Text 18"/>
          <p:cNvSpPr/>
          <p:nvPr/>
        </p:nvSpPr>
        <p:spPr>
          <a:xfrm>
            <a:off x="8247888" y="2980944"/>
            <a:ext cx="2980944" cy="274320"/>
          </a:xfrm>
          <a:prstGeom prst="rect">
            <a:avLst/>
          </a:prstGeom>
          <a:noFill/>
          <a:ln/>
        </p:spPr>
        <p:txBody>
          <a:bodyPr wrap="square" lIns="0" tIns="0" rIns="0" bIns="0" rtlCol="0" anchor="ctr"/>
          <a:lstStyle/>
          <a:p>
            <a:pPr indent="0" marL="0">
              <a:buNone/>
            </a:pPr>
            <a:r>
              <a:rPr lang="en-US" sz="1150" dirty="0">
                <a:solidFill>
                  <a:srgbClr val="0E7490"/>
                </a:solidFill>
                <a:latin typeface="Calibri" pitchFamily="34" charset="0"/>
                <a:ea typeface="Calibri" pitchFamily="34" charset="-122"/>
                <a:cs typeface="Calibri" pitchFamily="34" charset="-120"/>
              </a:rPr>
              <a:t>Head of Programs</a:t>
            </a:r>
            <a:endParaRPr lang="en-US" sz="1150" dirty="0"/>
          </a:p>
        </p:txBody>
      </p:sp>
      <p:sp>
        <p:nvSpPr>
          <p:cNvPr id="21" name="Text 19"/>
          <p:cNvSpPr/>
          <p:nvPr/>
        </p:nvSpPr>
        <p:spPr>
          <a:xfrm>
            <a:off x="8247888" y="3291840"/>
            <a:ext cx="2980944" cy="603504"/>
          </a:xfrm>
          <a:prstGeom prst="rect">
            <a:avLst/>
          </a:prstGeom>
          <a:noFill/>
          <a:ln/>
        </p:spPr>
        <p:txBody>
          <a:bodyPr wrap="square" lIns="0" tIns="0" rIns="0" bIns="0" rtlCol="0" anchor="t"/>
          <a:lstStyle/>
          <a:p>
            <a:pPr indent="0" marL="0">
              <a:lnSpc>
                <a:spcPts val="1300"/>
              </a:lnSpc>
              <a:buNone/>
            </a:pPr>
            <a:r>
              <a:rPr lang="en-US" sz="1100" dirty="0">
                <a:solidFill>
                  <a:srgbClr val="1E293B"/>
                </a:solidFill>
                <a:latin typeface="Calibri" pitchFamily="34" charset="0"/>
                <a:ea typeface="Calibri" pitchFamily="34" charset="-122"/>
                <a:cs typeface="Calibri" pitchFamily="34" charset="-120"/>
              </a:rPr>
              <a:t>Delivery, pilot onboarding, jury and hackathon operations.</a:t>
            </a:r>
            <a:endParaRPr lang="en-US" sz="1100" dirty="0"/>
          </a:p>
        </p:txBody>
      </p:sp>
      <p:sp>
        <p:nvSpPr>
          <p:cNvPr id="22" name="Shape 20"/>
          <p:cNvSpPr/>
          <p:nvPr/>
        </p:nvSpPr>
        <p:spPr>
          <a:xfrm>
            <a:off x="566928" y="4297680"/>
            <a:ext cx="11055096" cy="1481328"/>
          </a:xfrm>
          <a:prstGeom prst="roundRect">
            <a:avLst>
              <a:gd name="adj" fmla="val 3704"/>
            </a:avLst>
          </a:prstGeom>
          <a:solidFill>
            <a:srgbClr val="0F172A"/>
          </a:solidFill>
          <a:ln w="9525">
            <a:solidFill>
              <a:srgbClr val="E2E8F0"/>
            </a:solidFill>
            <a:prstDash val="solid"/>
          </a:ln>
        </p:spPr>
      </p:sp>
      <p:sp>
        <p:nvSpPr>
          <p:cNvPr id="23" name="Text 21"/>
          <p:cNvSpPr/>
          <p:nvPr/>
        </p:nvSpPr>
        <p:spPr>
          <a:xfrm>
            <a:off x="841248" y="4443984"/>
            <a:ext cx="2194560" cy="292608"/>
          </a:xfrm>
          <a:prstGeom prst="rect">
            <a:avLst/>
          </a:prstGeom>
          <a:noFill/>
          <a:ln/>
        </p:spPr>
        <p:txBody>
          <a:bodyPr wrap="square" lIns="0" tIns="0" rIns="0" bIns="0" rtlCol="0" anchor="ctr"/>
          <a:lstStyle/>
          <a:p>
            <a:pPr indent="0" marL="0">
              <a:buNone/>
            </a:pPr>
            <a:r>
              <a:rPr lang="en-US" sz="1300" b="1" spc="150" kern="0" dirty="0">
                <a:solidFill>
                  <a:srgbClr val="F59E0B"/>
                </a:solidFill>
                <a:latin typeface="Calibri" pitchFamily="34" charset="0"/>
                <a:ea typeface="Calibri" pitchFamily="34" charset="-122"/>
                <a:cs typeface="Calibri" pitchFamily="34" charset="-120"/>
              </a:rPr>
              <a:t>Advisors</a:t>
            </a:r>
            <a:endParaRPr lang="en-US" sz="1300" dirty="0"/>
          </a:p>
        </p:txBody>
      </p:sp>
      <p:sp>
        <p:nvSpPr>
          <p:cNvPr id="24" name="Text 22"/>
          <p:cNvSpPr/>
          <p:nvPr/>
        </p:nvSpPr>
        <p:spPr>
          <a:xfrm>
            <a:off x="841248" y="4791456"/>
            <a:ext cx="329184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[Advisor]</a:t>
            </a:r>
            <a:endParaRPr lang="en-US" sz="1200" dirty="0"/>
          </a:p>
        </p:txBody>
      </p:sp>
      <p:sp>
        <p:nvSpPr>
          <p:cNvPr id="25" name="Text 23"/>
          <p:cNvSpPr/>
          <p:nvPr/>
        </p:nvSpPr>
        <p:spPr>
          <a:xfrm>
            <a:off x="841248" y="5065776"/>
            <a:ext cx="3291840" cy="603504"/>
          </a:xfrm>
          <a:prstGeom prst="rect">
            <a:avLst/>
          </a:prstGeom>
          <a:noFill/>
          <a:ln/>
        </p:spPr>
        <p:txBody>
          <a:bodyPr wrap="square" lIns="0" tIns="0" rIns="0" bIns="0" rtlCol="0" anchor="t"/>
          <a:lstStyle/>
          <a:p>
            <a:pPr indent="0" marL="0">
              <a:lnSpc>
                <a:spcPts val="1300"/>
              </a:lnSpc>
              <a:buNone/>
            </a:pPr>
            <a:r>
              <a:rPr lang="en-US" sz="1050" dirty="0">
                <a:solidFill>
                  <a:srgbClr val="CBD5E1"/>
                </a:solidFill>
                <a:latin typeface="Calibri" pitchFamily="34" charset="0"/>
                <a:ea typeface="Calibri" pitchFamily="34" charset="-122"/>
                <a:cs typeface="Calibri" pitchFamily="34" charset="-120"/>
              </a:rPr>
              <a:t>Technopark general manager — buyer-side validation and channel access</a:t>
            </a:r>
            <a:endParaRPr lang="en-US" sz="1050" dirty="0"/>
          </a:p>
        </p:txBody>
      </p:sp>
      <p:sp>
        <p:nvSpPr>
          <p:cNvPr id="26" name="Text 24"/>
          <p:cNvSpPr/>
          <p:nvPr/>
        </p:nvSpPr>
        <p:spPr>
          <a:xfrm>
            <a:off x="4361688" y="4791456"/>
            <a:ext cx="329184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[Advisor]</a:t>
            </a:r>
            <a:endParaRPr lang="en-US" sz="1200" dirty="0"/>
          </a:p>
        </p:txBody>
      </p:sp>
      <p:sp>
        <p:nvSpPr>
          <p:cNvPr id="27" name="Text 25"/>
          <p:cNvSpPr/>
          <p:nvPr/>
        </p:nvSpPr>
        <p:spPr>
          <a:xfrm>
            <a:off x="4361688" y="5065776"/>
            <a:ext cx="3291840" cy="603504"/>
          </a:xfrm>
          <a:prstGeom prst="rect">
            <a:avLst/>
          </a:prstGeom>
          <a:noFill/>
          <a:ln/>
        </p:spPr>
        <p:txBody>
          <a:bodyPr wrap="square" lIns="0" tIns="0" rIns="0" bIns="0" rtlCol="0" anchor="t"/>
          <a:lstStyle/>
          <a:p>
            <a:pPr indent="0" marL="0">
              <a:lnSpc>
                <a:spcPts val="1300"/>
              </a:lnSpc>
              <a:buNone/>
            </a:pPr>
            <a:r>
              <a:rPr lang="en-US" sz="1050" dirty="0">
                <a:solidFill>
                  <a:srgbClr val="CBD5E1"/>
                </a:solidFill>
                <a:latin typeface="Calibri" pitchFamily="34" charset="0"/>
                <a:ea typeface="Calibri" pitchFamily="34" charset="-122"/>
                <a:cs typeface="Calibri" pitchFamily="34" charset="-120"/>
              </a:rPr>
              <a:t>University entrepreneurship centre director — curriculum and accreditation</a:t>
            </a:r>
            <a:endParaRPr lang="en-US" sz="1050" dirty="0"/>
          </a:p>
        </p:txBody>
      </p:sp>
      <p:sp>
        <p:nvSpPr>
          <p:cNvPr id="28" name="Text 26"/>
          <p:cNvSpPr/>
          <p:nvPr/>
        </p:nvSpPr>
        <p:spPr>
          <a:xfrm>
            <a:off x="7882128" y="4791456"/>
            <a:ext cx="329184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[Advisor]</a:t>
            </a:r>
            <a:endParaRPr lang="en-US" sz="1200" dirty="0"/>
          </a:p>
        </p:txBody>
      </p:sp>
      <p:sp>
        <p:nvSpPr>
          <p:cNvPr id="29" name="Text 27"/>
          <p:cNvSpPr/>
          <p:nvPr/>
        </p:nvSpPr>
        <p:spPr>
          <a:xfrm>
            <a:off x="7882128" y="5065776"/>
            <a:ext cx="3291840" cy="603504"/>
          </a:xfrm>
          <a:prstGeom prst="rect">
            <a:avLst/>
          </a:prstGeom>
          <a:noFill/>
          <a:ln/>
        </p:spPr>
        <p:txBody>
          <a:bodyPr wrap="square" lIns="0" tIns="0" rIns="0" bIns="0" rtlCol="0" anchor="t"/>
          <a:lstStyle/>
          <a:p>
            <a:pPr indent="0" marL="0">
              <a:lnSpc>
                <a:spcPts val="1300"/>
              </a:lnSpc>
              <a:buNone/>
            </a:pPr>
            <a:r>
              <a:rPr lang="en-US" sz="1050" dirty="0">
                <a:solidFill>
                  <a:srgbClr val="CBD5E1"/>
                </a:solidFill>
                <a:latin typeface="Calibri" pitchFamily="34" charset="0"/>
                <a:ea typeface="Calibri" pitchFamily="34" charset="-122"/>
                <a:cs typeface="Calibri" pitchFamily="34" charset="-120"/>
              </a:rPr>
              <a:t>SaaS operator — pricing, GTM and Series A readiness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10195560" y="-2514600"/>
            <a:ext cx="4206240" cy="4206240"/>
          </a:xfrm>
          <a:prstGeom prst="ellipse">
            <a:avLst/>
          </a:prstGeom>
          <a:solidFill>
            <a:srgbClr val="0E7490"/>
          </a:solidFill>
          <a:ln/>
        </p:spPr>
      </p:sp>
      <p:sp>
        <p:nvSpPr>
          <p:cNvPr id="3" name="Text 1"/>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THE ASK</a:t>
            </a:r>
            <a:endParaRPr lang="en-US" sz="1100" dirty="0"/>
          </a:p>
        </p:txBody>
      </p:sp>
      <p:sp>
        <p:nvSpPr>
          <p:cNvPr id="4" name="Text 2"/>
          <p:cNvSpPr/>
          <p:nvPr/>
        </p:nvSpPr>
        <p:spPr>
          <a:xfrm>
            <a:off x="566928" y="658368"/>
            <a:ext cx="11055096" cy="7772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$750K seed — 24 months to Series A</a:t>
            </a:r>
            <a:endParaRPr lang="en-US" sz="3800" dirty="0"/>
          </a:p>
        </p:txBody>
      </p:sp>
      <p:graphicFrame>
        <p:nvGraphicFramePr>
          <p:cNvPr id="5" name="Chart 0" descr=""/>
          <p:cNvGraphicFramePr/>
          <p:nvPr/>
        </p:nvGraphicFramePr>
        <p:xfrm>
          <a:off x="475488" y="1609344"/>
          <a:ext cx="6035040" cy="3200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766560" y="1664208"/>
            <a:ext cx="3657600" cy="310896"/>
          </a:xfrm>
          <a:prstGeom prst="rect">
            <a:avLst/>
          </a:prstGeom>
          <a:noFill/>
          <a:ln/>
        </p:spPr>
        <p:txBody>
          <a:bodyPr wrap="square" lIns="0" tIns="0" rIns="0" bIns="0" rtlCol="0" anchor="ctr"/>
          <a:lstStyle/>
          <a:p>
            <a:pPr indent="0" marL="0">
              <a:buNone/>
            </a:pPr>
            <a:r>
              <a:rPr lang="en-US" sz="1500" b="1" dirty="0">
                <a:solidFill>
                  <a:srgbClr val="F59E0B"/>
                </a:solidFill>
                <a:latin typeface="Calibri" pitchFamily="34" charset="0"/>
                <a:ea typeface="Calibri" pitchFamily="34" charset="-122"/>
                <a:cs typeface="Calibri" pitchFamily="34" charset="-120"/>
              </a:rPr>
              <a:t>What it buys</a:t>
            </a:r>
            <a:endParaRPr lang="en-US" sz="1500" dirty="0"/>
          </a:p>
        </p:txBody>
      </p:sp>
      <p:sp>
        <p:nvSpPr>
          <p:cNvPr id="7" name="Text 4"/>
          <p:cNvSpPr/>
          <p:nvPr/>
        </p:nvSpPr>
        <p:spPr>
          <a:xfrm>
            <a:off x="6766560" y="2066544"/>
            <a:ext cx="4846320" cy="237744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CBD5E1"/>
                </a:solidFill>
                <a:latin typeface="Calibri" pitchFamily="34" charset="0"/>
                <a:ea typeface="Calibri" pitchFamily="34" charset="-122"/>
                <a:cs typeface="Calibri" pitchFamily="34" charset="-120"/>
              </a:rPr>
              <a:t>Close the three functional gaps — simulation gameplay, AI tool pack, live deployment.</a:t>
            </a:r>
            <a:endParaRPr lang="en-US" sz="1200" dirty="0"/>
          </a:p>
          <a:p>
            <a:pPr marL="177800" indent="-177800">
              <a:spcAft>
                <a:spcPts val="800"/>
              </a:spcAft>
              <a:buSzPct val="100000"/>
              <a:buChar char="•"/>
            </a:pPr>
            <a:r>
              <a:rPr lang="en-US" sz="1200" dirty="0">
                <a:solidFill>
                  <a:srgbClr val="CBD5E1"/>
                </a:solidFill>
                <a:latin typeface="Calibri" pitchFamily="34" charset="0"/>
                <a:ea typeface="Calibri" pitchFamily="34" charset="-122"/>
                <a:cs typeface="Calibri" pitchFamily="34" charset="-120"/>
              </a:rPr>
              <a:t>6 → 35 paying institutions; $49K → $327K ARR.</a:t>
            </a:r>
            <a:endParaRPr lang="en-US" sz="1200" dirty="0"/>
          </a:p>
          <a:p>
            <a:pPr marL="177800" indent="-177800">
              <a:spcAft>
                <a:spcPts val="800"/>
              </a:spcAft>
              <a:buSzPct val="100000"/>
              <a:buChar char="•"/>
            </a:pPr>
            <a:r>
              <a:rPr lang="en-US" sz="1200" dirty="0">
                <a:solidFill>
                  <a:srgbClr val="CBD5E1"/>
                </a:solidFill>
                <a:latin typeface="Calibri" pitchFamily="34" charset="0"/>
                <a:ea typeface="Calibri" pitchFamily="34" charset="-122"/>
                <a:cs typeface="Calibri" pitchFamily="34" charset="-120"/>
              </a:rPr>
              <a:t>Prove per-seat economics: $9.4K ACV, 13.6-month CAC payback, 3.5x LTV:CAC.</a:t>
            </a:r>
            <a:endParaRPr lang="en-US" sz="1200" dirty="0"/>
          </a:p>
          <a:p>
            <a:pPr marL="177800" indent="-177800">
              <a:spcAft>
                <a:spcPts val="800"/>
              </a:spcAft>
              <a:buSzPct val="100000"/>
              <a:buChar char="•"/>
            </a:pPr>
            <a:r>
              <a:rPr lang="en-US" sz="1200" dirty="0">
                <a:solidFill>
                  <a:srgbClr val="CBD5E1"/>
                </a:solidFill>
                <a:latin typeface="Calibri" pitchFamily="34" charset="0"/>
                <a:ea typeface="Calibri" pitchFamily="34" charset="-122"/>
                <a:cs typeface="Calibri" pitchFamily="34" charset="-120"/>
              </a:rPr>
              <a:t>Land the first EIT HEI / Horizon consortium as technology partner.</a:t>
            </a:r>
            <a:endParaRPr lang="en-US" sz="1200" dirty="0"/>
          </a:p>
          <a:p>
            <a:pPr marL="177800" indent="-177800">
              <a:spcAft>
                <a:spcPts val="800"/>
              </a:spcAft>
              <a:buSzPct val="100000"/>
              <a:buChar char="•"/>
            </a:pPr>
            <a:r>
              <a:rPr lang="en-US" sz="1200" dirty="0">
                <a:solidFill>
                  <a:srgbClr val="CBD5E1"/>
                </a:solidFill>
                <a:latin typeface="Calibri" pitchFamily="34" charset="0"/>
                <a:ea typeface="Calibri" pitchFamily="34" charset="-122"/>
                <a:cs typeface="Calibri" pitchFamily="34" charset="-120"/>
              </a:rPr>
              <a:t>GDPR/KVKK compliance and pentest — the gate for every EU public tender.</a:t>
            </a:r>
            <a:endParaRPr lang="en-US" sz="1200" dirty="0"/>
          </a:p>
        </p:txBody>
      </p:sp>
      <p:sp>
        <p:nvSpPr>
          <p:cNvPr id="8" name="Shape 5"/>
          <p:cNvSpPr/>
          <p:nvPr/>
        </p:nvSpPr>
        <p:spPr>
          <a:xfrm>
            <a:off x="6766560" y="4590288"/>
            <a:ext cx="4846320" cy="0"/>
          </a:xfrm>
          <a:prstGeom prst="line">
            <a:avLst/>
          </a:prstGeom>
          <a:noFill/>
          <a:ln w="12700">
            <a:solidFill>
              <a:srgbClr val="334155"/>
            </a:solidFill>
            <a:prstDash val="solid"/>
          </a:ln>
        </p:spPr>
      </p:sp>
      <p:sp>
        <p:nvSpPr>
          <p:cNvPr id="9" name="Text 6"/>
          <p:cNvSpPr/>
          <p:nvPr/>
        </p:nvSpPr>
        <p:spPr>
          <a:xfrm>
            <a:off x="6766560" y="4736592"/>
            <a:ext cx="1554480" cy="402336"/>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$750K</a:t>
            </a:r>
            <a:endParaRPr lang="en-US" sz="2300" dirty="0"/>
          </a:p>
        </p:txBody>
      </p:sp>
      <p:sp>
        <p:nvSpPr>
          <p:cNvPr id="10" name="Text 7"/>
          <p:cNvSpPr/>
          <p:nvPr/>
        </p:nvSpPr>
        <p:spPr>
          <a:xfrm>
            <a:off x="6766560" y="5138928"/>
            <a:ext cx="1554480" cy="274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raise</a:t>
            </a:r>
            <a:endParaRPr lang="en-US" sz="1050" dirty="0"/>
          </a:p>
        </p:txBody>
      </p:sp>
      <p:sp>
        <p:nvSpPr>
          <p:cNvPr id="11" name="Text 8"/>
          <p:cNvSpPr/>
          <p:nvPr/>
        </p:nvSpPr>
        <p:spPr>
          <a:xfrm>
            <a:off x="8394192" y="4736592"/>
            <a:ext cx="1554480" cy="402336"/>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24 mo</a:t>
            </a:r>
            <a:endParaRPr lang="en-US" sz="2300" dirty="0"/>
          </a:p>
        </p:txBody>
      </p:sp>
      <p:sp>
        <p:nvSpPr>
          <p:cNvPr id="12" name="Text 9"/>
          <p:cNvSpPr/>
          <p:nvPr/>
        </p:nvSpPr>
        <p:spPr>
          <a:xfrm>
            <a:off x="8394192" y="5138928"/>
            <a:ext cx="1554480" cy="274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runway</a:t>
            </a:r>
            <a:endParaRPr lang="en-US" sz="1050" dirty="0"/>
          </a:p>
        </p:txBody>
      </p:sp>
      <p:sp>
        <p:nvSpPr>
          <p:cNvPr id="13" name="Text 10"/>
          <p:cNvSpPr/>
          <p:nvPr/>
        </p:nvSpPr>
        <p:spPr>
          <a:xfrm>
            <a:off x="10021824" y="4736592"/>
            <a:ext cx="1554480" cy="402336"/>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$602K</a:t>
            </a:r>
            <a:endParaRPr lang="en-US" sz="2300" dirty="0"/>
          </a:p>
        </p:txBody>
      </p:sp>
      <p:sp>
        <p:nvSpPr>
          <p:cNvPr id="14" name="Text 11"/>
          <p:cNvSpPr/>
          <p:nvPr/>
        </p:nvSpPr>
        <p:spPr>
          <a:xfrm>
            <a:off x="10021824" y="5138928"/>
            <a:ext cx="1554480" cy="274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burn to 2027</a:t>
            </a:r>
            <a:endParaRPr lang="en-US" sz="1050" dirty="0"/>
          </a:p>
        </p:txBody>
      </p:sp>
      <p:sp>
        <p:nvSpPr>
          <p:cNvPr id="15" name="Text 12"/>
          <p:cNvSpPr/>
          <p:nvPr/>
        </p:nvSpPr>
        <p:spPr>
          <a:xfrm>
            <a:off x="566928" y="5943600"/>
            <a:ext cx="11064240" cy="329184"/>
          </a:xfrm>
          <a:prstGeom prst="rect">
            <a:avLst/>
          </a:prstGeom>
          <a:noFill/>
          <a:ln/>
        </p:spPr>
        <p:txBody>
          <a:bodyPr wrap="square" lIns="0" tIns="0" rIns="0" bIns="0" rtlCol="0" anchor="ctr"/>
          <a:lstStyle/>
          <a:p>
            <a:pPr indent="0" marL="0">
              <a:buNone/>
            </a:pPr>
            <a:r>
              <a:rPr lang="en-US" sz="1200" b="1" dirty="0">
                <a:solidFill>
                  <a:srgbClr val="CBD5E1"/>
                </a:solidFill>
                <a:latin typeface="Calibri" pitchFamily="34" charset="0"/>
                <a:ea typeface="Calibri" pitchFamily="34" charset="-122"/>
                <a:cs typeface="Calibri" pitchFamily="34" charset="-120"/>
              </a:rPr>
              <a:t>BizSim  ·  [founder@bizsim.com]  ·  [+994 xx xxx xx xx]  ·  Live demo available on request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BizSim — Seed Deck</dc:title>
  <dc:subject>PptxGenJS Presentation</dc:subject>
  <dc:creator>BizSim</dc:creator>
  <cp:lastModifiedBy>BizSim</cp:lastModifiedBy>
  <cp:revision>1</cp:revision>
  <dcterms:created xsi:type="dcterms:W3CDTF">2026-08-22T13:19:43Z</dcterms:created>
  <dcterms:modified xsi:type="dcterms:W3CDTF">2026-08-22T13:19:43Z</dcterms:modified>
</cp:coreProperties>
</file>